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99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ED887E-F9D8-4E9E-93CD-2BC3A1127ED9}" type="doc">
      <dgm:prSet loTypeId="urn:microsoft.com/office/officeart/2005/8/layout/hProcess9" loCatId="process" qsTypeId="urn:microsoft.com/office/officeart/2005/8/quickstyle/simple2" qsCatId="simple" csTypeId="urn:microsoft.com/office/officeart/2005/8/colors/accent1_4" csCatId="accent1" phldr="1"/>
      <dgm:spPr/>
    </dgm:pt>
    <dgm:pt modelId="{27EF1D0D-6D34-4761-ABC9-73367AFE1397}">
      <dgm:prSet phldrT="[Text]" custT="1"/>
      <dgm:spPr/>
      <dgm:t>
        <a:bodyPr/>
        <a:lstStyle/>
        <a:p>
          <a:r>
            <a:rPr lang="en-US" sz="1600" dirty="0">
              <a:latin typeface="Lucida Sans Unicode" panose="020B0602030504020204" pitchFamily="34" charset="0"/>
              <a:cs typeface="Lucida Sans Unicode" panose="020B0602030504020204" pitchFamily="34" charset="0"/>
            </a:rPr>
            <a:t>Dataset as CSV files</a:t>
          </a:r>
          <a:endParaRPr lang="en-IN" sz="1600" dirty="0">
            <a:latin typeface="Lucida Sans Unicode" panose="020B0602030504020204" pitchFamily="34" charset="0"/>
            <a:cs typeface="Lucida Sans Unicode" panose="020B0602030504020204" pitchFamily="34" charset="0"/>
          </a:endParaRPr>
        </a:p>
      </dgm:t>
    </dgm:pt>
    <dgm:pt modelId="{C4803B49-BA7D-4270-877A-EFE8D4415400}" type="parTrans" cxnId="{8B7E521A-5B26-4444-B9E8-FC16D993AE66}">
      <dgm:prSet/>
      <dgm:spPr/>
      <dgm:t>
        <a:bodyPr/>
        <a:lstStyle/>
        <a:p>
          <a:endParaRPr lang="en-IN"/>
        </a:p>
      </dgm:t>
    </dgm:pt>
    <dgm:pt modelId="{0A9D4417-E7B6-49EB-9930-63E41CA93FCE}" type="sibTrans" cxnId="{8B7E521A-5B26-4444-B9E8-FC16D993AE66}">
      <dgm:prSet/>
      <dgm:spPr/>
      <dgm:t>
        <a:bodyPr/>
        <a:lstStyle/>
        <a:p>
          <a:endParaRPr lang="en-IN"/>
        </a:p>
      </dgm:t>
    </dgm:pt>
    <dgm:pt modelId="{23C37BBD-29CF-4005-A3F5-BD0CD745D6D6}">
      <dgm:prSet phldrT="[Text]" custT="1"/>
      <dgm:spPr/>
      <dgm:t>
        <a:bodyPr/>
        <a:lstStyle/>
        <a:p>
          <a:r>
            <a:rPr lang="en-US" sz="1600" dirty="0">
              <a:latin typeface="Lucida Sans Unicode" panose="020B0602030504020204" pitchFamily="34" charset="0"/>
              <a:cs typeface="Lucida Sans Unicode" panose="020B0602030504020204" pitchFamily="34" charset="0"/>
            </a:rPr>
            <a:t>Data processing</a:t>
          </a:r>
          <a:endParaRPr lang="en-IN" sz="1600" dirty="0">
            <a:latin typeface="Lucida Sans Unicode" panose="020B0602030504020204" pitchFamily="34" charset="0"/>
            <a:cs typeface="Lucida Sans Unicode" panose="020B0602030504020204" pitchFamily="34" charset="0"/>
          </a:endParaRPr>
        </a:p>
      </dgm:t>
    </dgm:pt>
    <dgm:pt modelId="{AC7895BC-B245-4CB7-8617-6D9B58FAD495}" type="parTrans" cxnId="{73600A2E-8AE4-4692-8A9D-881AC98A318D}">
      <dgm:prSet/>
      <dgm:spPr/>
      <dgm:t>
        <a:bodyPr/>
        <a:lstStyle/>
        <a:p>
          <a:endParaRPr lang="en-IN"/>
        </a:p>
      </dgm:t>
    </dgm:pt>
    <dgm:pt modelId="{6843C46B-BBAB-4F08-B17E-212E37F983B4}" type="sibTrans" cxnId="{73600A2E-8AE4-4692-8A9D-881AC98A318D}">
      <dgm:prSet/>
      <dgm:spPr/>
      <dgm:t>
        <a:bodyPr/>
        <a:lstStyle/>
        <a:p>
          <a:endParaRPr lang="en-IN"/>
        </a:p>
      </dgm:t>
    </dgm:pt>
    <dgm:pt modelId="{336CBB9B-DA6C-4777-A61E-4C2F32C8490F}">
      <dgm:prSet phldrT="[Text]" custT="1"/>
      <dgm:spPr/>
      <dgm:t>
        <a:bodyPr/>
        <a:lstStyle/>
        <a:p>
          <a:r>
            <a:rPr lang="en-US" sz="1600" dirty="0">
              <a:latin typeface="Lucida Sans Unicode" panose="020B0602030504020204" pitchFamily="34" charset="0"/>
              <a:cs typeface="Lucida Sans Unicode" panose="020B0602030504020204" pitchFamily="34" charset="0"/>
            </a:rPr>
            <a:t>Featuring scaling</a:t>
          </a:r>
          <a:endParaRPr lang="en-IN" sz="1600" dirty="0">
            <a:latin typeface="Lucida Sans Unicode" panose="020B0602030504020204" pitchFamily="34" charset="0"/>
            <a:cs typeface="Lucida Sans Unicode" panose="020B0602030504020204" pitchFamily="34" charset="0"/>
          </a:endParaRPr>
        </a:p>
      </dgm:t>
    </dgm:pt>
    <dgm:pt modelId="{D9FF0EB0-9586-4CB6-BA73-CCC0ECFE0222}" type="parTrans" cxnId="{A04DA877-2FF6-4FB3-9673-7F5B19104AF7}">
      <dgm:prSet/>
      <dgm:spPr/>
      <dgm:t>
        <a:bodyPr/>
        <a:lstStyle/>
        <a:p>
          <a:endParaRPr lang="en-IN"/>
        </a:p>
      </dgm:t>
    </dgm:pt>
    <dgm:pt modelId="{333B7362-3234-4205-B0E0-A41C96946773}" type="sibTrans" cxnId="{A04DA877-2FF6-4FB3-9673-7F5B19104AF7}">
      <dgm:prSet/>
      <dgm:spPr/>
      <dgm:t>
        <a:bodyPr/>
        <a:lstStyle/>
        <a:p>
          <a:endParaRPr lang="en-IN"/>
        </a:p>
      </dgm:t>
    </dgm:pt>
    <dgm:pt modelId="{58155BC0-E091-4F59-8C49-EE21D2993936}">
      <dgm:prSet custT="1"/>
      <dgm:spPr/>
      <dgm:t>
        <a:bodyPr/>
        <a:lstStyle/>
        <a:p>
          <a:r>
            <a:rPr lang="en-US" sz="1600" dirty="0">
              <a:latin typeface="Lucida Sans Unicode" panose="020B0602030504020204" pitchFamily="34" charset="0"/>
              <a:cs typeface="Lucida Sans Unicode" panose="020B0602030504020204" pitchFamily="34" charset="0"/>
            </a:rPr>
            <a:t>LSTM training and evolution</a:t>
          </a:r>
          <a:endParaRPr lang="en-IN" sz="1600" dirty="0">
            <a:latin typeface="Lucida Sans Unicode" panose="020B0602030504020204" pitchFamily="34" charset="0"/>
            <a:cs typeface="Lucida Sans Unicode" panose="020B0602030504020204" pitchFamily="34" charset="0"/>
          </a:endParaRPr>
        </a:p>
      </dgm:t>
    </dgm:pt>
    <dgm:pt modelId="{ED8B804B-237D-4D1D-8DB2-F725DDF84F2E}" type="parTrans" cxnId="{1B3346BC-848D-47EF-B454-EE57A13AB703}">
      <dgm:prSet/>
      <dgm:spPr/>
      <dgm:t>
        <a:bodyPr/>
        <a:lstStyle/>
        <a:p>
          <a:endParaRPr lang="en-IN"/>
        </a:p>
      </dgm:t>
    </dgm:pt>
    <dgm:pt modelId="{1B255494-E1B7-4ECC-A19E-6028CFEBB19C}" type="sibTrans" cxnId="{1B3346BC-848D-47EF-B454-EE57A13AB703}">
      <dgm:prSet/>
      <dgm:spPr/>
      <dgm:t>
        <a:bodyPr/>
        <a:lstStyle/>
        <a:p>
          <a:endParaRPr lang="en-IN"/>
        </a:p>
      </dgm:t>
    </dgm:pt>
    <dgm:pt modelId="{D7E258DD-E849-42BC-8BDA-07E96C1B17BF}">
      <dgm:prSet custT="1"/>
      <dgm:spPr/>
      <dgm:t>
        <a:bodyPr/>
        <a:lstStyle/>
        <a:p>
          <a:r>
            <a:rPr lang="en-US" sz="1600" dirty="0">
              <a:latin typeface="Lucida Sans Unicode" panose="020B0602030504020204" pitchFamily="34" charset="0"/>
              <a:cs typeface="Lucida Sans Unicode" panose="020B0602030504020204" pitchFamily="34" charset="0"/>
            </a:rPr>
            <a:t>Prediction</a:t>
          </a:r>
          <a:endParaRPr lang="en-IN" sz="1600" dirty="0">
            <a:latin typeface="Lucida Sans Unicode" panose="020B0602030504020204" pitchFamily="34" charset="0"/>
            <a:cs typeface="Lucida Sans Unicode" panose="020B0602030504020204" pitchFamily="34" charset="0"/>
          </a:endParaRPr>
        </a:p>
      </dgm:t>
    </dgm:pt>
    <dgm:pt modelId="{0EB61C79-57EC-4546-ADBD-3E5AED2B8B7F}" type="parTrans" cxnId="{D6078F8C-BD43-4F24-8A5D-2F7B2798A04C}">
      <dgm:prSet/>
      <dgm:spPr/>
      <dgm:t>
        <a:bodyPr/>
        <a:lstStyle/>
        <a:p>
          <a:endParaRPr lang="en-IN"/>
        </a:p>
      </dgm:t>
    </dgm:pt>
    <dgm:pt modelId="{85383729-B358-49FF-A648-E7D07D76B472}" type="sibTrans" cxnId="{D6078F8C-BD43-4F24-8A5D-2F7B2798A04C}">
      <dgm:prSet/>
      <dgm:spPr/>
      <dgm:t>
        <a:bodyPr/>
        <a:lstStyle/>
        <a:p>
          <a:endParaRPr lang="en-IN"/>
        </a:p>
      </dgm:t>
    </dgm:pt>
    <dgm:pt modelId="{C95A8F63-1304-4B1C-B7A2-09B33EF26FA1}" type="pres">
      <dgm:prSet presAssocID="{F6ED887E-F9D8-4E9E-93CD-2BC3A1127ED9}" presName="CompostProcess" presStyleCnt="0">
        <dgm:presLayoutVars>
          <dgm:dir/>
          <dgm:resizeHandles val="exact"/>
        </dgm:presLayoutVars>
      </dgm:prSet>
      <dgm:spPr/>
    </dgm:pt>
    <dgm:pt modelId="{6359C0C0-4425-4060-848C-6E03B81C2E6A}" type="pres">
      <dgm:prSet presAssocID="{F6ED887E-F9D8-4E9E-93CD-2BC3A1127ED9}" presName="arrow" presStyleLbl="bgShp" presStyleIdx="0" presStyleCnt="1"/>
      <dgm:spPr/>
    </dgm:pt>
    <dgm:pt modelId="{9C1F1DBD-9ABA-4952-9BC1-B73B1D2414EA}" type="pres">
      <dgm:prSet presAssocID="{F6ED887E-F9D8-4E9E-93CD-2BC3A1127ED9}" presName="linearProcess" presStyleCnt="0"/>
      <dgm:spPr/>
    </dgm:pt>
    <dgm:pt modelId="{21A927BE-2898-4879-8CF4-B54AAFE3B517}" type="pres">
      <dgm:prSet presAssocID="{27EF1D0D-6D34-4761-ABC9-73367AFE1397}" presName="textNode" presStyleLbl="node1" presStyleIdx="0" presStyleCnt="5">
        <dgm:presLayoutVars>
          <dgm:bulletEnabled val="1"/>
        </dgm:presLayoutVars>
      </dgm:prSet>
      <dgm:spPr/>
    </dgm:pt>
    <dgm:pt modelId="{61F23D39-9137-4307-B3C7-CE7F85C454D4}" type="pres">
      <dgm:prSet presAssocID="{0A9D4417-E7B6-49EB-9930-63E41CA93FCE}" presName="sibTrans" presStyleCnt="0"/>
      <dgm:spPr/>
    </dgm:pt>
    <dgm:pt modelId="{D9CFD84A-270A-4397-8A51-A87F6A3187ED}" type="pres">
      <dgm:prSet presAssocID="{23C37BBD-29CF-4005-A3F5-BD0CD745D6D6}" presName="textNode" presStyleLbl="node1" presStyleIdx="1" presStyleCnt="5">
        <dgm:presLayoutVars>
          <dgm:bulletEnabled val="1"/>
        </dgm:presLayoutVars>
      </dgm:prSet>
      <dgm:spPr/>
    </dgm:pt>
    <dgm:pt modelId="{F1ED039B-965A-4C40-AF50-CA602EAC0390}" type="pres">
      <dgm:prSet presAssocID="{6843C46B-BBAB-4F08-B17E-212E37F983B4}" presName="sibTrans" presStyleCnt="0"/>
      <dgm:spPr/>
    </dgm:pt>
    <dgm:pt modelId="{77600811-EE18-4B32-8C91-34B179CEC5E6}" type="pres">
      <dgm:prSet presAssocID="{336CBB9B-DA6C-4777-A61E-4C2F32C8490F}" presName="textNode" presStyleLbl="node1" presStyleIdx="2" presStyleCnt="5">
        <dgm:presLayoutVars>
          <dgm:bulletEnabled val="1"/>
        </dgm:presLayoutVars>
      </dgm:prSet>
      <dgm:spPr/>
    </dgm:pt>
    <dgm:pt modelId="{C49B6B88-6069-47E3-9EF5-D74076EFD734}" type="pres">
      <dgm:prSet presAssocID="{333B7362-3234-4205-B0E0-A41C96946773}" presName="sibTrans" presStyleCnt="0"/>
      <dgm:spPr/>
    </dgm:pt>
    <dgm:pt modelId="{1152B8B5-4E51-433B-BBE1-7D60A049EE16}" type="pres">
      <dgm:prSet presAssocID="{58155BC0-E091-4F59-8C49-EE21D2993936}" presName="textNode" presStyleLbl="node1" presStyleIdx="3" presStyleCnt="5">
        <dgm:presLayoutVars>
          <dgm:bulletEnabled val="1"/>
        </dgm:presLayoutVars>
      </dgm:prSet>
      <dgm:spPr/>
    </dgm:pt>
    <dgm:pt modelId="{95A0F76A-3126-4DA1-A9EE-395399C25227}" type="pres">
      <dgm:prSet presAssocID="{1B255494-E1B7-4ECC-A19E-6028CFEBB19C}" presName="sibTrans" presStyleCnt="0"/>
      <dgm:spPr/>
    </dgm:pt>
    <dgm:pt modelId="{66B5EB5D-86CF-48FF-B3B6-14E7E27DB1DA}" type="pres">
      <dgm:prSet presAssocID="{D7E258DD-E849-42BC-8BDA-07E96C1B17BF}" presName="textNode" presStyleLbl="node1" presStyleIdx="4" presStyleCnt="5">
        <dgm:presLayoutVars>
          <dgm:bulletEnabled val="1"/>
        </dgm:presLayoutVars>
      </dgm:prSet>
      <dgm:spPr/>
    </dgm:pt>
  </dgm:ptLst>
  <dgm:cxnLst>
    <dgm:cxn modelId="{8B7E521A-5B26-4444-B9E8-FC16D993AE66}" srcId="{F6ED887E-F9D8-4E9E-93CD-2BC3A1127ED9}" destId="{27EF1D0D-6D34-4761-ABC9-73367AFE1397}" srcOrd="0" destOrd="0" parTransId="{C4803B49-BA7D-4270-877A-EFE8D4415400}" sibTransId="{0A9D4417-E7B6-49EB-9930-63E41CA93FCE}"/>
    <dgm:cxn modelId="{73600A2E-8AE4-4692-8A9D-881AC98A318D}" srcId="{F6ED887E-F9D8-4E9E-93CD-2BC3A1127ED9}" destId="{23C37BBD-29CF-4005-A3F5-BD0CD745D6D6}" srcOrd="1" destOrd="0" parTransId="{AC7895BC-B245-4CB7-8617-6D9B58FAD495}" sibTransId="{6843C46B-BBAB-4F08-B17E-212E37F983B4}"/>
    <dgm:cxn modelId="{DC77593F-7EB2-457C-998F-3CEB9AC72AD6}" type="presOf" srcId="{336CBB9B-DA6C-4777-A61E-4C2F32C8490F}" destId="{77600811-EE18-4B32-8C91-34B179CEC5E6}" srcOrd="0" destOrd="0" presId="urn:microsoft.com/office/officeart/2005/8/layout/hProcess9"/>
    <dgm:cxn modelId="{E0DBBC42-40B8-43F4-BB2B-1C5F21582E18}" type="presOf" srcId="{58155BC0-E091-4F59-8C49-EE21D2993936}" destId="{1152B8B5-4E51-433B-BBE1-7D60A049EE16}" srcOrd="0" destOrd="0" presId="urn:microsoft.com/office/officeart/2005/8/layout/hProcess9"/>
    <dgm:cxn modelId="{A04DA877-2FF6-4FB3-9673-7F5B19104AF7}" srcId="{F6ED887E-F9D8-4E9E-93CD-2BC3A1127ED9}" destId="{336CBB9B-DA6C-4777-A61E-4C2F32C8490F}" srcOrd="2" destOrd="0" parTransId="{D9FF0EB0-9586-4CB6-BA73-CCC0ECFE0222}" sibTransId="{333B7362-3234-4205-B0E0-A41C96946773}"/>
    <dgm:cxn modelId="{81F3497F-101B-4A6E-BBCB-3E1E957B77F5}" type="presOf" srcId="{27EF1D0D-6D34-4761-ABC9-73367AFE1397}" destId="{21A927BE-2898-4879-8CF4-B54AAFE3B517}" srcOrd="0" destOrd="0" presId="urn:microsoft.com/office/officeart/2005/8/layout/hProcess9"/>
    <dgm:cxn modelId="{34F59581-229E-4FAA-8B66-A294E8B31424}" type="presOf" srcId="{23C37BBD-29CF-4005-A3F5-BD0CD745D6D6}" destId="{D9CFD84A-270A-4397-8A51-A87F6A3187ED}" srcOrd="0" destOrd="0" presId="urn:microsoft.com/office/officeart/2005/8/layout/hProcess9"/>
    <dgm:cxn modelId="{D6078F8C-BD43-4F24-8A5D-2F7B2798A04C}" srcId="{F6ED887E-F9D8-4E9E-93CD-2BC3A1127ED9}" destId="{D7E258DD-E849-42BC-8BDA-07E96C1B17BF}" srcOrd="4" destOrd="0" parTransId="{0EB61C79-57EC-4546-ADBD-3E5AED2B8B7F}" sibTransId="{85383729-B358-49FF-A648-E7D07D76B472}"/>
    <dgm:cxn modelId="{59EDB0B8-EEBC-41E8-8854-F1164757775D}" type="presOf" srcId="{F6ED887E-F9D8-4E9E-93CD-2BC3A1127ED9}" destId="{C95A8F63-1304-4B1C-B7A2-09B33EF26FA1}" srcOrd="0" destOrd="0" presId="urn:microsoft.com/office/officeart/2005/8/layout/hProcess9"/>
    <dgm:cxn modelId="{1B3346BC-848D-47EF-B454-EE57A13AB703}" srcId="{F6ED887E-F9D8-4E9E-93CD-2BC3A1127ED9}" destId="{58155BC0-E091-4F59-8C49-EE21D2993936}" srcOrd="3" destOrd="0" parTransId="{ED8B804B-237D-4D1D-8DB2-F725DDF84F2E}" sibTransId="{1B255494-E1B7-4ECC-A19E-6028CFEBB19C}"/>
    <dgm:cxn modelId="{9390EECC-0129-4088-89DA-9B74A1CE0EB1}" type="presOf" srcId="{D7E258DD-E849-42BC-8BDA-07E96C1B17BF}" destId="{66B5EB5D-86CF-48FF-B3B6-14E7E27DB1DA}" srcOrd="0" destOrd="0" presId="urn:microsoft.com/office/officeart/2005/8/layout/hProcess9"/>
    <dgm:cxn modelId="{9D6E4D30-BC70-44CA-8D86-67AB89D5F6D7}" type="presParOf" srcId="{C95A8F63-1304-4B1C-B7A2-09B33EF26FA1}" destId="{6359C0C0-4425-4060-848C-6E03B81C2E6A}" srcOrd="0" destOrd="0" presId="urn:microsoft.com/office/officeart/2005/8/layout/hProcess9"/>
    <dgm:cxn modelId="{56C1E1A1-84EA-410D-AA09-4EE6C621A391}" type="presParOf" srcId="{C95A8F63-1304-4B1C-B7A2-09B33EF26FA1}" destId="{9C1F1DBD-9ABA-4952-9BC1-B73B1D2414EA}" srcOrd="1" destOrd="0" presId="urn:microsoft.com/office/officeart/2005/8/layout/hProcess9"/>
    <dgm:cxn modelId="{F22A3A3F-5C3D-46E4-B9AC-B6DACFBB18A5}" type="presParOf" srcId="{9C1F1DBD-9ABA-4952-9BC1-B73B1D2414EA}" destId="{21A927BE-2898-4879-8CF4-B54AAFE3B517}" srcOrd="0" destOrd="0" presId="urn:microsoft.com/office/officeart/2005/8/layout/hProcess9"/>
    <dgm:cxn modelId="{F0572A6B-C884-4A12-A9D7-2F58E7CC8EFA}" type="presParOf" srcId="{9C1F1DBD-9ABA-4952-9BC1-B73B1D2414EA}" destId="{61F23D39-9137-4307-B3C7-CE7F85C454D4}" srcOrd="1" destOrd="0" presId="urn:microsoft.com/office/officeart/2005/8/layout/hProcess9"/>
    <dgm:cxn modelId="{E04457BE-FE06-4279-B1F8-DFE859A0BE6B}" type="presParOf" srcId="{9C1F1DBD-9ABA-4952-9BC1-B73B1D2414EA}" destId="{D9CFD84A-270A-4397-8A51-A87F6A3187ED}" srcOrd="2" destOrd="0" presId="urn:microsoft.com/office/officeart/2005/8/layout/hProcess9"/>
    <dgm:cxn modelId="{76752822-6A32-4B08-B478-D53E8484D387}" type="presParOf" srcId="{9C1F1DBD-9ABA-4952-9BC1-B73B1D2414EA}" destId="{F1ED039B-965A-4C40-AF50-CA602EAC0390}" srcOrd="3" destOrd="0" presId="urn:microsoft.com/office/officeart/2005/8/layout/hProcess9"/>
    <dgm:cxn modelId="{97297C5F-4EFD-40E5-A5DD-0704429502A0}" type="presParOf" srcId="{9C1F1DBD-9ABA-4952-9BC1-B73B1D2414EA}" destId="{77600811-EE18-4B32-8C91-34B179CEC5E6}" srcOrd="4" destOrd="0" presId="urn:microsoft.com/office/officeart/2005/8/layout/hProcess9"/>
    <dgm:cxn modelId="{A0A55BD0-8A36-4E18-87EB-7363976C4D9A}" type="presParOf" srcId="{9C1F1DBD-9ABA-4952-9BC1-B73B1D2414EA}" destId="{C49B6B88-6069-47E3-9EF5-D74076EFD734}" srcOrd="5" destOrd="0" presId="urn:microsoft.com/office/officeart/2005/8/layout/hProcess9"/>
    <dgm:cxn modelId="{8ABDE65B-430F-425A-8470-69C1039911AE}" type="presParOf" srcId="{9C1F1DBD-9ABA-4952-9BC1-B73B1D2414EA}" destId="{1152B8B5-4E51-433B-BBE1-7D60A049EE16}" srcOrd="6" destOrd="0" presId="urn:microsoft.com/office/officeart/2005/8/layout/hProcess9"/>
    <dgm:cxn modelId="{23C7FE91-FBF2-4130-A826-30CE0B29F836}" type="presParOf" srcId="{9C1F1DBD-9ABA-4952-9BC1-B73B1D2414EA}" destId="{95A0F76A-3126-4DA1-A9EE-395399C25227}" srcOrd="7" destOrd="0" presId="urn:microsoft.com/office/officeart/2005/8/layout/hProcess9"/>
    <dgm:cxn modelId="{4F26FC7B-D8B1-4A3D-8FB0-0E18088C3823}" type="presParOf" srcId="{9C1F1DBD-9ABA-4952-9BC1-B73B1D2414EA}" destId="{66B5EB5D-86CF-48FF-B3B6-14E7E27DB1DA}"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9C0C0-4425-4060-848C-6E03B81C2E6A}">
      <dsp:nvSpPr>
        <dsp:cNvPr id="0" name=""/>
        <dsp:cNvSpPr/>
      </dsp:nvSpPr>
      <dsp:spPr>
        <a:xfrm>
          <a:off x="625259" y="0"/>
          <a:ext cx="7086274" cy="2650917"/>
        </a:xfrm>
        <a:prstGeom prst="rightArrow">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A927BE-2898-4879-8CF4-B54AAFE3B517}">
      <dsp:nvSpPr>
        <dsp:cNvPr id="0" name=""/>
        <dsp:cNvSpPr/>
      </dsp:nvSpPr>
      <dsp:spPr>
        <a:xfrm>
          <a:off x="2442" y="795275"/>
          <a:ext cx="1470336" cy="1060366"/>
        </a:xfrm>
        <a:prstGeom prst="roundRect">
          <a:avLst/>
        </a:prstGeom>
        <a:solidFill>
          <a:schemeClr val="accent1">
            <a:shade val="50000"/>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Lucida Sans Unicode" panose="020B0602030504020204" pitchFamily="34" charset="0"/>
              <a:cs typeface="Lucida Sans Unicode" panose="020B0602030504020204" pitchFamily="34" charset="0"/>
            </a:rPr>
            <a:t>Dataset as CSV files</a:t>
          </a:r>
          <a:endParaRPr lang="en-IN" sz="1600" kern="1200" dirty="0">
            <a:latin typeface="Lucida Sans Unicode" panose="020B0602030504020204" pitchFamily="34" charset="0"/>
            <a:cs typeface="Lucida Sans Unicode" panose="020B0602030504020204" pitchFamily="34" charset="0"/>
          </a:endParaRPr>
        </a:p>
      </dsp:txBody>
      <dsp:txXfrm>
        <a:off x="54205" y="847038"/>
        <a:ext cx="1366810" cy="956840"/>
      </dsp:txXfrm>
    </dsp:sp>
    <dsp:sp modelId="{D9CFD84A-270A-4397-8A51-A87F6A3187ED}">
      <dsp:nvSpPr>
        <dsp:cNvPr id="0" name=""/>
        <dsp:cNvSpPr/>
      </dsp:nvSpPr>
      <dsp:spPr>
        <a:xfrm>
          <a:off x="1717835" y="795275"/>
          <a:ext cx="1470336" cy="1060366"/>
        </a:xfrm>
        <a:prstGeom prst="roundRect">
          <a:avLst/>
        </a:prstGeom>
        <a:solidFill>
          <a:schemeClr val="accent1">
            <a:shade val="50000"/>
            <a:hueOff val="-227593"/>
            <a:satOff val="-12098"/>
            <a:lumOff val="19107"/>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Lucida Sans Unicode" panose="020B0602030504020204" pitchFamily="34" charset="0"/>
              <a:cs typeface="Lucida Sans Unicode" panose="020B0602030504020204" pitchFamily="34" charset="0"/>
            </a:rPr>
            <a:t>Data processing</a:t>
          </a:r>
          <a:endParaRPr lang="en-IN" sz="1600" kern="1200" dirty="0">
            <a:latin typeface="Lucida Sans Unicode" panose="020B0602030504020204" pitchFamily="34" charset="0"/>
            <a:cs typeface="Lucida Sans Unicode" panose="020B0602030504020204" pitchFamily="34" charset="0"/>
          </a:endParaRPr>
        </a:p>
      </dsp:txBody>
      <dsp:txXfrm>
        <a:off x="1769598" y="847038"/>
        <a:ext cx="1366810" cy="956840"/>
      </dsp:txXfrm>
    </dsp:sp>
    <dsp:sp modelId="{77600811-EE18-4B32-8C91-34B179CEC5E6}">
      <dsp:nvSpPr>
        <dsp:cNvPr id="0" name=""/>
        <dsp:cNvSpPr/>
      </dsp:nvSpPr>
      <dsp:spPr>
        <a:xfrm>
          <a:off x="3433228" y="795275"/>
          <a:ext cx="1470336" cy="1060366"/>
        </a:xfrm>
        <a:prstGeom prst="roundRect">
          <a:avLst/>
        </a:prstGeom>
        <a:solidFill>
          <a:schemeClr val="accent1">
            <a:shade val="50000"/>
            <a:hueOff val="-455186"/>
            <a:satOff val="-24196"/>
            <a:lumOff val="38214"/>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Lucida Sans Unicode" panose="020B0602030504020204" pitchFamily="34" charset="0"/>
              <a:cs typeface="Lucida Sans Unicode" panose="020B0602030504020204" pitchFamily="34" charset="0"/>
            </a:rPr>
            <a:t>Featuring scaling</a:t>
          </a:r>
          <a:endParaRPr lang="en-IN" sz="1600" kern="1200" dirty="0">
            <a:latin typeface="Lucida Sans Unicode" panose="020B0602030504020204" pitchFamily="34" charset="0"/>
            <a:cs typeface="Lucida Sans Unicode" panose="020B0602030504020204" pitchFamily="34" charset="0"/>
          </a:endParaRPr>
        </a:p>
      </dsp:txBody>
      <dsp:txXfrm>
        <a:off x="3484991" y="847038"/>
        <a:ext cx="1366810" cy="956840"/>
      </dsp:txXfrm>
    </dsp:sp>
    <dsp:sp modelId="{1152B8B5-4E51-433B-BBE1-7D60A049EE16}">
      <dsp:nvSpPr>
        <dsp:cNvPr id="0" name=""/>
        <dsp:cNvSpPr/>
      </dsp:nvSpPr>
      <dsp:spPr>
        <a:xfrm>
          <a:off x="5148620" y="795275"/>
          <a:ext cx="1470336" cy="1060366"/>
        </a:xfrm>
        <a:prstGeom prst="roundRect">
          <a:avLst/>
        </a:prstGeom>
        <a:solidFill>
          <a:schemeClr val="accent1">
            <a:shade val="50000"/>
            <a:hueOff val="-455186"/>
            <a:satOff val="-24196"/>
            <a:lumOff val="38214"/>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Lucida Sans Unicode" panose="020B0602030504020204" pitchFamily="34" charset="0"/>
              <a:cs typeface="Lucida Sans Unicode" panose="020B0602030504020204" pitchFamily="34" charset="0"/>
            </a:rPr>
            <a:t>LSTM training and evolution</a:t>
          </a:r>
          <a:endParaRPr lang="en-IN" sz="1600" kern="1200" dirty="0">
            <a:latin typeface="Lucida Sans Unicode" panose="020B0602030504020204" pitchFamily="34" charset="0"/>
            <a:cs typeface="Lucida Sans Unicode" panose="020B0602030504020204" pitchFamily="34" charset="0"/>
          </a:endParaRPr>
        </a:p>
      </dsp:txBody>
      <dsp:txXfrm>
        <a:off x="5200383" y="847038"/>
        <a:ext cx="1366810" cy="956840"/>
      </dsp:txXfrm>
    </dsp:sp>
    <dsp:sp modelId="{66B5EB5D-86CF-48FF-B3B6-14E7E27DB1DA}">
      <dsp:nvSpPr>
        <dsp:cNvPr id="0" name=""/>
        <dsp:cNvSpPr/>
      </dsp:nvSpPr>
      <dsp:spPr>
        <a:xfrm>
          <a:off x="6864013" y="795275"/>
          <a:ext cx="1470336" cy="1060366"/>
        </a:xfrm>
        <a:prstGeom prst="roundRect">
          <a:avLst/>
        </a:prstGeom>
        <a:solidFill>
          <a:schemeClr val="accent1">
            <a:shade val="50000"/>
            <a:hueOff val="-227593"/>
            <a:satOff val="-12098"/>
            <a:lumOff val="19107"/>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Lucida Sans Unicode" panose="020B0602030504020204" pitchFamily="34" charset="0"/>
              <a:cs typeface="Lucida Sans Unicode" panose="020B0602030504020204" pitchFamily="34" charset="0"/>
            </a:rPr>
            <a:t>Prediction</a:t>
          </a:r>
          <a:endParaRPr lang="en-IN" sz="1600" kern="1200" dirty="0">
            <a:latin typeface="Lucida Sans Unicode" panose="020B0602030504020204" pitchFamily="34" charset="0"/>
            <a:cs typeface="Lucida Sans Unicode" panose="020B0602030504020204" pitchFamily="34" charset="0"/>
          </a:endParaRPr>
        </a:p>
      </dsp:txBody>
      <dsp:txXfrm>
        <a:off x="6915776" y="847038"/>
        <a:ext cx="1366810" cy="95684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736D6A-FC3C-4260-BCF2-D0F5C6A2B5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6257550-EA91-48B8-8233-3C0F6BE935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F8808C-8590-4018-B9E6-6716BEF3786C}" type="datetimeFigureOut">
              <a:rPr lang="en-IN" smtClean="0"/>
              <a:t>28/12/2020</a:t>
            </a:fld>
            <a:endParaRPr lang="en-IN"/>
          </a:p>
        </p:txBody>
      </p:sp>
      <p:sp>
        <p:nvSpPr>
          <p:cNvPr id="4" name="Footer Placeholder 3">
            <a:extLst>
              <a:ext uri="{FF2B5EF4-FFF2-40B4-BE49-F238E27FC236}">
                <a16:creationId xmlns:a16="http://schemas.microsoft.com/office/drawing/2014/main" id="{5B9759B0-735F-4C08-84F3-354727DEC3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01946AD-9745-40A0-A080-09A1D29B8A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5D5ACB-6215-496E-BBBD-E1DBA8D3D0DE}" type="slidenum">
              <a:rPr lang="en-IN" smtClean="0"/>
              <a:t>‹#›</a:t>
            </a:fld>
            <a:endParaRPr lang="en-IN"/>
          </a:p>
        </p:txBody>
      </p:sp>
    </p:spTree>
    <p:extLst>
      <p:ext uri="{BB962C8B-B14F-4D97-AF65-F5344CB8AC3E}">
        <p14:creationId xmlns:p14="http://schemas.microsoft.com/office/powerpoint/2010/main" val="320521136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94188-56B1-4FBF-A9CF-58D5E6CC882B}" type="datetimeFigureOut">
              <a:rPr lang="en-IN" smtClean="0"/>
              <a:t>28/12/2020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8701D4-536E-4775-ADAC-E1DC98934344}" type="slidenum">
              <a:rPr lang="en-IN" smtClean="0"/>
              <a:t>‹#›</a:t>
            </a:fld>
            <a:endParaRPr lang="en-IN"/>
          </a:p>
        </p:txBody>
      </p:sp>
    </p:spTree>
    <p:extLst>
      <p:ext uri="{BB962C8B-B14F-4D97-AF65-F5344CB8AC3E}">
        <p14:creationId xmlns:p14="http://schemas.microsoft.com/office/powerpoint/2010/main" val="104011526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1F3FD8E4-9EE9-4F45-B5AD-A80E4FA6E2B7}" type="datetime1">
              <a:rPr lang="en-IN" smtClean="0"/>
              <a:t>28/12/2020</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6DC73CA8-7065-41A0-BD30-BF2D8C2F4EF9}" type="slidenum">
              <a:rPr lang="en-IN" smtClean="0"/>
              <a:t>‹#›</a:t>
            </a:fld>
            <a:endParaRPr lang="en-IN"/>
          </a:p>
        </p:txBody>
      </p:sp>
    </p:spTree>
    <p:extLst>
      <p:ext uri="{BB962C8B-B14F-4D97-AF65-F5344CB8AC3E}">
        <p14:creationId xmlns:p14="http://schemas.microsoft.com/office/powerpoint/2010/main" val="365428801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C1F824-4418-4572-90F1-00C58455CA76}" type="datetime1">
              <a:rPr lang="en-IN" smtClean="0"/>
              <a:t>28/12/2020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73CA8-7065-41A0-BD30-BF2D8C2F4EF9}"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32002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0262F0-8CCC-45F4-84DC-6825316FD7E6}" type="datetime1">
              <a:rPr lang="en-IN" smtClean="0"/>
              <a:t>28/12/2020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73CA8-7065-41A0-BD30-BF2D8C2F4EF9}"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8701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28AB0C-8E8F-4D29-AF9A-97B8E42274FE}" type="datetime1">
              <a:rPr lang="en-IN" smtClean="0"/>
              <a:t>28/12/2020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C73CA8-7065-41A0-BD30-BF2D8C2F4EF9}"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74926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C65F3F-A6BE-47CD-805E-6FCE595792DF}" type="datetime1">
              <a:rPr lang="en-IN" smtClean="0"/>
              <a:t>28/12/2020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C73CA8-7065-41A0-BD30-BF2D8C2F4EF9}" type="slidenum">
              <a:rPr lang="en-IN" smtClean="0"/>
              <a:t>‹#›</a:t>
            </a:fld>
            <a:endParaRPr lang="en-IN"/>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0274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F0AE58-0950-42AF-BE26-054B9054D210}" type="datetime1">
              <a:rPr lang="en-IN" smtClean="0"/>
              <a:t>28/12/2020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C73CA8-7065-41A0-BD30-BF2D8C2F4EF9}"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79749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2E4CFF-23CE-4F12-BA33-B22FA9BF5557}" type="datetime1">
              <a:rPr lang="en-IN" smtClean="0"/>
              <a:t>28/12/2020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C73CA8-7065-41A0-BD30-BF2D8C2F4EF9}" type="slidenum">
              <a:rPr lang="en-IN" smtClean="0"/>
              <a:t>‹#›</a:t>
            </a:fld>
            <a:endParaRPr lang="en-IN"/>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6753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D5ED4E-684F-4EA9-A6E4-D989F55D23E6}" type="datetime1">
              <a:rPr lang="en-IN" smtClean="0"/>
              <a:t>28/12/2020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C73CA8-7065-41A0-BD30-BF2D8C2F4EF9}" type="slidenum">
              <a:rPr lang="en-IN" smtClean="0"/>
              <a:t>‹#›</a:t>
            </a:fld>
            <a:endParaRPr lang="en-IN"/>
          </a:p>
        </p:txBody>
      </p:sp>
    </p:spTree>
    <p:extLst>
      <p:ext uri="{BB962C8B-B14F-4D97-AF65-F5344CB8AC3E}">
        <p14:creationId xmlns:p14="http://schemas.microsoft.com/office/powerpoint/2010/main" val="158428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5DC439-2FB3-4273-AC2C-143E3196316A}" type="datetime1">
              <a:rPr lang="en-IN" smtClean="0"/>
              <a:t>28/12/2020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C73CA8-7065-41A0-BD30-BF2D8C2F4EF9}" type="slidenum">
              <a:rPr lang="en-IN" smtClean="0"/>
              <a:t>‹#›</a:t>
            </a:fld>
            <a:endParaRPr lang="en-IN"/>
          </a:p>
        </p:txBody>
      </p:sp>
    </p:spTree>
    <p:extLst>
      <p:ext uri="{BB962C8B-B14F-4D97-AF65-F5344CB8AC3E}">
        <p14:creationId xmlns:p14="http://schemas.microsoft.com/office/powerpoint/2010/main" val="1792810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FB07F-5A70-4D9F-861D-74A58429CA85}" type="datetime1">
              <a:rPr lang="en-IN" smtClean="0"/>
              <a:t>28/12/2020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73CA8-7065-41A0-BD30-BF2D8C2F4EF9}"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22914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AA8FF8-67E8-41F1-BE94-E70C1C439ECE}" type="datetime1">
              <a:rPr lang="en-IN" smtClean="0"/>
              <a:t>28/12/2020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73CA8-7065-41A0-BD30-BF2D8C2F4EF9}"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42078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CBC59955-096C-4176-B797-06D5E790FC15}" type="datetime1">
              <a:rPr lang="en-IN" smtClean="0"/>
              <a:t>28/12/2020</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6DC73CA8-7065-41A0-BD30-BF2D8C2F4EF9}" type="slidenum">
              <a:rPr lang="en-IN" smtClean="0"/>
              <a:t>‹#›</a:t>
            </a:fld>
            <a:endParaRPr lang="en-IN"/>
          </a:p>
        </p:txBody>
      </p:sp>
    </p:spTree>
    <p:extLst>
      <p:ext uri="{BB962C8B-B14F-4D97-AF65-F5344CB8AC3E}">
        <p14:creationId xmlns:p14="http://schemas.microsoft.com/office/powerpoint/2010/main" val="188615357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94666-8137-4300-B6E2-0ADBCE1F5CE2}"/>
              </a:ext>
            </a:extLst>
          </p:cNvPr>
          <p:cNvSpPr>
            <a:spLocks noGrp="1"/>
          </p:cNvSpPr>
          <p:nvPr>
            <p:ph type="ctrTitle"/>
          </p:nvPr>
        </p:nvSpPr>
        <p:spPr>
          <a:xfrm>
            <a:off x="1066800" y="408963"/>
            <a:ext cx="10058400" cy="3020037"/>
          </a:xfrm>
        </p:spPr>
        <p:txBody>
          <a:bodyPr>
            <a:normAutofit fontScale="90000"/>
          </a:bodyPr>
          <a:lstStyle/>
          <a:p>
            <a:pPr algn="ctr">
              <a:lnSpc>
                <a:spcPct val="150000"/>
              </a:lnSpc>
            </a:pPr>
            <a:r>
              <a:rPr lang="en-US" sz="4000" dirty="0">
                <a:solidFill>
                  <a:schemeClr val="tx2"/>
                </a:solidFill>
                <a:latin typeface="Lucida Sans Unicode" panose="020B0602030504020204" pitchFamily="34" charset="0"/>
                <a:cs typeface="Lucida Sans Unicode" panose="020B0602030504020204" pitchFamily="34" charset="0"/>
              </a:rPr>
              <a:t>KLE Dr. M S </a:t>
            </a:r>
            <a:r>
              <a:rPr lang="en-US" sz="4000" dirty="0" err="1">
                <a:solidFill>
                  <a:schemeClr val="tx2"/>
                </a:solidFill>
                <a:latin typeface="Lucida Sans Unicode" panose="020B0602030504020204" pitchFamily="34" charset="0"/>
                <a:cs typeface="Lucida Sans Unicode" panose="020B0602030504020204" pitchFamily="34" charset="0"/>
              </a:rPr>
              <a:t>Sheshgiri</a:t>
            </a:r>
            <a:r>
              <a:rPr lang="en-US" sz="4000" dirty="0">
                <a:solidFill>
                  <a:schemeClr val="tx2"/>
                </a:solidFill>
                <a:latin typeface="Lucida Sans Unicode" panose="020B0602030504020204" pitchFamily="34" charset="0"/>
                <a:cs typeface="Lucida Sans Unicode" panose="020B0602030504020204" pitchFamily="34" charset="0"/>
              </a:rPr>
              <a:t> College of Engineering and Technology Belagavi</a:t>
            </a:r>
            <a:r>
              <a:rPr lang="en-US" sz="3600" dirty="0">
                <a:solidFill>
                  <a:schemeClr val="tx2"/>
                </a:solidFill>
                <a:latin typeface="Lucida Sans Unicode" panose="020B0602030504020204" pitchFamily="34" charset="0"/>
                <a:cs typeface="Lucida Sans Unicode" panose="020B0602030504020204" pitchFamily="34" charset="0"/>
              </a:rPr>
              <a:t>. </a:t>
            </a:r>
            <a:br>
              <a:rPr lang="en-US" sz="3600" dirty="0">
                <a:solidFill>
                  <a:schemeClr val="tx2"/>
                </a:solidFill>
                <a:latin typeface="Lucida Sans Unicode" panose="020B0602030504020204" pitchFamily="34" charset="0"/>
                <a:cs typeface="Lucida Sans Unicode" panose="020B0602030504020204" pitchFamily="34" charset="0"/>
              </a:rPr>
            </a:br>
            <a:br>
              <a:rPr lang="en-US" sz="3600" dirty="0">
                <a:solidFill>
                  <a:schemeClr val="tx2"/>
                </a:solidFill>
                <a:latin typeface="Lucida Sans Unicode" panose="020B0602030504020204" pitchFamily="34" charset="0"/>
                <a:cs typeface="Lucida Sans Unicode" panose="020B0602030504020204" pitchFamily="34" charset="0"/>
              </a:rPr>
            </a:br>
            <a:r>
              <a:rPr lang="en-US" sz="3200" i="1" dirty="0">
                <a:solidFill>
                  <a:schemeClr val="tx2"/>
                </a:solidFill>
                <a:latin typeface="Lucida Sans Unicode" panose="020B0602030504020204" pitchFamily="34" charset="0"/>
                <a:cs typeface="Lucida Sans Unicode" panose="020B0602030504020204" pitchFamily="34" charset="0"/>
              </a:rPr>
              <a:t>MACHINE LEARNING BASED STOCK PRICE PREDICTION</a:t>
            </a:r>
            <a:endParaRPr lang="en-IN" sz="3600" i="1" dirty="0">
              <a:solidFill>
                <a:schemeClr val="tx2"/>
              </a:solidFill>
              <a:latin typeface="Lucida Sans Unicode" panose="020B0602030504020204" pitchFamily="34" charset="0"/>
              <a:cs typeface="Lucida Sans Unicode" panose="020B0602030504020204" pitchFamily="34" charset="0"/>
            </a:endParaRPr>
          </a:p>
        </p:txBody>
      </p:sp>
      <p:sp>
        <p:nvSpPr>
          <p:cNvPr id="4" name="Slide Number Placeholder 3">
            <a:extLst>
              <a:ext uri="{FF2B5EF4-FFF2-40B4-BE49-F238E27FC236}">
                <a16:creationId xmlns:a16="http://schemas.microsoft.com/office/drawing/2014/main" id="{43E3B425-9782-4155-AF0E-C08A485231D6}"/>
              </a:ext>
            </a:extLst>
          </p:cNvPr>
          <p:cNvSpPr>
            <a:spLocks noGrp="1"/>
          </p:cNvSpPr>
          <p:nvPr>
            <p:ph type="sldNum" sz="quarter" idx="12"/>
          </p:nvPr>
        </p:nvSpPr>
        <p:spPr/>
        <p:txBody>
          <a:bodyPr>
            <a:normAutofit lnSpcReduction="10000"/>
          </a:bodyPr>
          <a:lstStyle/>
          <a:p>
            <a:fld id="{6DC73CA8-7065-41A0-BD30-BF2D8C2F4EF9}" type="slidenum">
              <a:rPr lang="en-IN" smtClean="0"/>
              <a:t>1</a:t>
            </a:fld>
            <a:endParaRPr lang="en-IN"/>
          </a:p>
        </p:txBody>
      </p:sp>
      <p:sp>
        <p:nvSpPr>
          <p:cNvPr id="6" name="TextBox 5">
            <a:extLst>
              <a:ext uri="{FF2B5EF4-FFF2-40B4-BE49-F238E27FC236}">
                <a16:creationId xmlns:a16="http://schemas.microsoft.com/office/drawing/2014/main" id="{77DF62FB-1411-4164-8F47-34C277A83CE5}"/>
              </a:ext>
            </a:extLst>
          </p:cNvPr>
          <p:cNvSpPr txBox="1"/>
          <p:nvPr/>
        </p:nvSpPr>
        <p:spPr>
          <a:xfrm>
            <a:off x="1066800" y="3783434"/>
            <a:ext cx="6256789" cy="1631216"/>
          </a:xfrm>
          <a:prstGeom prst="rect">
            <a:avLst/>
          </a:prstGeom>
          <a:noFill/>
        </p:spPr>
        <p:txBody>
          <a:bodyPr wrap="square" rtlCol="0">
            <a:spAutoFit/>
          </a:bodyPr>
          <a:lstStyle/>
          <a:p>
            <a:r>
              <a:rPr lang="en-US" sz="2000" i="1" dirty="0">
                <a:latin typeface="Lucida Sans Unicode" panose="020B0602030504020204" pitchFamily="34" charset="0"/>
                <a:cs typeface="Lucida Sans Unicode" panose="020B0602030504020204" pitchFamily="34" charset="0"/>
              </a:rPr>
              <a:t>Presented by</a:t>
            </a:r>
            <a:r>
              <a:rPr lang="en-US" sz="2000" dirty="0">
                <a:latin typeface="Lucida Sans Unicode" panose="020B0602030504020204" pitchFamily="34" charset="0"/>
                <a:cs typeface="Lucida Sans Unicode" panose="020B0602030504020204" pitchFamily="34" charset="0"/>
              </a:rPr>
              <a:t>							</a:t>
            </a:r>
          </a:p>
          <a:p>
            <a:pPr marL="285750" indent="-285750">
              <a:buFont typeface="Wingdings" panose="05000000000000000000" pitchFamily="2" charset="2"/>
              <a:buChar char="§"/>
            </a:pPr>
            <a:r>
              <a:rPr lang="en-US" sz="2000" dirty="0">
                <a:latin typeface="Lucida Sans Unicode" panose="020B0602030504020204" pitchFamily="34" charset="0"/>
                <a:cs typeface="Lucida Sans Unicode" panose="020B0602030504020204" pitchFamily="34" charset="0"/>
              </a:rPr>
              <a:t>Manojkumar B Bagewadi (2KL17CS113)</a:t>
            </a:r>
          </a:p>
          <a:p>
            <a:pPr marL="285750" indent="-285750">
              <a:buFont typeface="Wingdings" panose="05000000000000000000" pitchFamily="2" charset="2"/>
              <a:buChar char="§"/>
            </a:pPr>
            <a:r>
              <a:rPr lang="en-US" sz="2000" dirty="0" err="1">
                <a:latin typeface="Lucida Sans Unicode" panose="020B0602030504020204" pitchFamily="34" charset="0"/>
                <a:cs typeface="Lucida Sans Unicode" panose="020B0602030504020204" pitchFamily="34" charset="0"/>
              </a:rPr>
              <a:t>Sarvesh</a:t>
            </a:r>
            <a:r>
              <a:rPr lang="en-US" sz="2000" dirty="0">
                <a:latin typeface="Lucida Sans Unicode" panose="020B0602030504020204" pitchFamily="34" charset="0"/>
                <a:cs typeface="Lucida Sans Unicode" panose="020B0602030504020204" pitchFamily="34" charset="0"/>
              </a:rPr>
              <a:t> S Hatti (2KL17CS074)</a:t>
            </a:r>
          </a:p>
          <a:p>
            <a:pPr marL="285750" indent="-285750">
              <a:buFont typeface="Wingdings" panose="05000000000000000000" pitchFamily="2" charset="2"/>
              <a:buChar char="§"/>
            </a:pPr>
            <a:r>
              <a:rPr lang="en-US" sz="2000" dirty="0">
                <a:latin typeface="Lucida Sans Unicode" panose="020B0602030504020204" pitchFamily="34" charset="0"/>
                <a:cs typeface="Lucida Sans Unicode" panose="020B0602030504020204" pitchFamily="34" charset="0"/>
              </a:rPr>
              <a:t>K L </a:t>
            </a:r>
            <a:r>
              <a:rPr lang="en-US" sz="2000" dirty="0" err="1">
                <a:latin typeface="Lucida Sans Unicode" panose="020B0602030504020204" pitchFamily="34" charset="0"/>
                <a:cs typeface="Lucida Sans Unicode" panose="020B0602030504020204" pitchFamily="34" charset="0"/>
              </a:rPr>
              <a:t>Niteesh</a:t>
            </a:r>
            <a:r>
              <a:rPr lang="en-US" sz="2000" dirty="0">
                <a:latin typeface="Lucida Sans Unicode" panose="020B0602030504020204" pitchFamily="34" charset="0"/>
                <a:cs typeface="Lucida Sans Unicode" panose="020B0602030504020204" pitchFamily="34" charset="0"/>
              </a:rPr>
              <a:t> (2KL17CS034)</a:t>
            </a:r>
          </a:p>
          <a:p>
            <a:pPr marL="285750" indent="-285750">
              <a:buFont typeface="Wingdings" panose="05000000000000000000" pitchFamily="2" charset="2"/>
              <a:buChar char="§"/>
            </a:pPr>
            <a:r>
              <a:rPr lang="en-US" sz="2000" dirty="0" err="1">
                <a:latin typeface="Lucida Sans Unicode" panose="020B0602030504020204" pitchFamily="34" charset="0"/>
                <a:cs typeface="Lucida Sans Unicode" panose="020B0602030504020204" pitchFamily="34" charset="0"/>
              </a:rPr>
              <a:t>Nandesh</a:t>
            </a:r>
            <a:r>
              <a:rPr lang="en-US" sz="2000" dirty="0">
                <a:latin typeface="Lucida Sans Unicode" panose="020B0602030504020204" pitchFamily="34" charset="0"/>
                <a:cs typeface="Lucida Sans Unicode" panose="020B0602030504020204" pitchFamily="34" charset="0"/>
              </a:rPr>
              <a:t> </a:t>
            </a:r>
            <a:r>
              <a:rPr lang="en-US" sz="2000" dirty="0" err="1">
                <a:latin typeface="Lucida Sans Unicode" panose="020B0602030504020204" pitchFamily="34" charset="0"/>
                <a:cs typeface="Lucida Sans Unicode" panose="020B0602030504020204" pitchFamily="34" charset="0"/>
              </a:rPr>
              <a:t>Ganiger</a:t>
            </a:r>
            <a:r>
              <a:rPr lang="en-US" sz="2000" dirty="0">
                <a:latin typeface="Lucida Sans Unicode" panose="020B0602030504020204" pitchFamily="34" charset="0"/>
                <a:cs typeface="Lucida Sans Unicode" panose="020B0602030504020204" pitchFamily="34" charset="0"/>
              </a:rPr>
              <a:t> (2KL17CS046)     </a:t>
            </a:r>
            <a:endParaRPr lang="en-IN" sz="2000" dirty="0">
              <a:latin typeface="Lucida Sans Unicode" panose="020B0602030504020204" pitchFamily="34" charset="0"/>
              <a:cs typeface="Lucida Sans Unicode" panose="020B0602030504020204" pitchFamily="34" charset="0"/>
            </a:endParaRPr>
          </a:p>
        </p:txBody>
      </p:sp>
      <p:sp>
        <p:nvSpPr>
          <p:cNvPr id="7" name="TextBox 6">
            <a:extLst>
              <a:ext uri="{FF2B5EF4-FFF2-40B4-BE49-F238E27FC236}">
                <a16:creationId xmlns:a16="http://schemas.microsoft.com/office/drawing/2014/main" id="{840B7B89-02C2-43CE-AFEE-77C04DF63248}"/>
              </a:ext>
            </a:extLst>
          </p:cNvPr>
          <p:cNvSpPr txBox="1"/>
          <p:nvPr/>
        </p:nvSpPr>
        <p:spPr>
          <a:xfrm>
            <a:off x="9076889" y="3783434"/>
            <a:ext cx="1760418" cy="646331"/>
          </a:xfrm>
          <a:prstGeom prst="rect">
            <a:avLst/>
          </a:prstGeom>
          <a:noFill/>
        </p:spPr>
        <p:txBody>
          <a:bodyPr wrap="none" rtlCol="0">
            <a:spAutoFit/>
          </a:bodyPr>
          <a:lstStyle/>
          <a:p>
            <a:r>
              <a:rPr lang="en-US" i="1" dirty="0">
                <a:latin typeface="Lucida Sans Unicode" panose="020B0602030504020204" pitchFamily="34" charset="0"/>
                <a:cs typeface="Lucida Sans Unicode" panose="020B0602030504020204" pitchFamily="34" charset="0"/>
              </a:rPr>
              <a:t>Guide</a:t>
            </a:r>
          </a:p>
          <a:p>
            <a:r>
              <a:rPr lang="en-US" dirty="0">
                <a:latin typeface="Lucida Sans Unicode" panose="020B0602030504020204" pitchFamily="34" charset="0"/>
                <a:cs typeface="Lucida Sans Unicode" panose="020B0602030504020204" pitchFamily="34" charset="0"/>
              </a:rPr>
              <a:t>Kiran </a:t>
            </a:r>
            <a:r>
              <a:rPr lang="en-US" dirty="0" err="1">
                <a:latin typeface="Lucida Sans Unicode" panose="020B0602030504020204" pitchFamily="34" charset="0"/>
                <a:cs typeface="Lucida Sans Unicode" panose="020B0602030504020204" pitchFamily="34" charset="0"/>
              </a:rPr>
              <a:t>Kataraki</a:t>
            </a:r>
            <a:endParaRPr lang="en-IN" dirty="0">
              <a:latin typeface="Lucida Sans Unicode" panose="020B0602030504020204" pitchFamily="34" charset="0"/>
              <a:cs typeface="Lucida Sans Unicode" panose="020B0602030504020204" pitchFamily="34" charset="0"/>
            </a:endParaRPr>
          </a:p>
        </p:txBody>
      </p:sp>
      <p:cxnSp>
        <p:nvCxnSpPr>
          <p:cNvPr id="5" name="Straight Connector 4">
            <a:extLst>
              <a:ext uri="{FF2B5EF4-FFF2-40B4-BE49-F238E27FC236}">
                <a16:creationId xmlns:a16="http://schemas.microsoft.com/office/drawing/2014/main" id="{8F0BB556-11F0-4C2E-BDED-E6E482D2A8F6}"/>
              </a:ext>
            </a:extLst>
          </p:cNvPr>
          <p:cNvCxnSpPr/>
          <p:nvPr/>
        </p:nvCxnSpPr>
        <p:spPr>
          <a:xfrm>
            <a:off x="838899" y="3556932"/>
            <a:ext cx="10286301"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891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94666-8137-4300-B6E2-0ADBCE1F5CE2}"/>
              </a:ext>
            </a:extLst>
          </p:cNvPr>
          <p:cNvSpPr>
            <a:spLocks noGrp="1"/>
          </p:cNvSpPr>
          <p:nvPr>
            <p:ph type="ctrTitle"/>
          </p:nvPr>
        </p:nvSpPr>
        <p:spPr>
          <a:xfrm>
            <a:off x="1097280" y="591172"/>
            <a:ext cx="10058400" cy="683954"/>
          </a:xfrm>
        </p:spPr>
        <p:txBody>
          <a:bodyPr>
            <a:normAutofit/>
          </a:bodyPr>
          <a:lstStyle/>
          <a:p>
            <a:r>
              <a:rPr lang="en-US" sz="4400" dirty="0">
                <a:solidFill>
                  <a:schemeClr val="tx2"/>
                </a:solidFill>
                <a:latin typeface="Lucida Sans Unicode" panose="020B0602030504020204" pitchFamily="34" charset="0"/>
                <a:cs typeface="Lucida Sans Unicode" panose="020B0602030504020204" pitchFamily="34" charset="0"/>
              </a:rPr>
              <a:t>INTRODUCTION</a:t>
            </a:r>
            <a:endParaRPr lang="en-IN" sz="4400" dirty="0">
              <a:solidFill>
                <a:schemeClr val="tx2"/>
              </a:solidFill>
              <a:latin typeface="Lucida Sans Unicode" panose="020B0602030504020204" pitchFamily="34" charset="0"/>
              <a:cs typeface="Lucida Sans Unicode" panose="020B0602030504020204" pitchFamily="34" charset="0"/>
            </a:endParaRPr>
          </a:p>
        </p:txBody>
      </p:sp>
      <p:sp>
        <p:nvSpPr>
          <p:cNvPr id="3" name="Slide Number Placeholder 2">
            <a:extLst>
              <a:ext uri="{FF2B5EF4-FFF2-40B4-BE49-F238E27FC236}">
                <a16:creationId xmlns:a16="http://schemas.microsoft.com/office/drawing/2014/main" id="{9A7E43C8-982F-45C6-87E2-EF129A58C91A}"/>
              </a:ext>
            </a:extLst>
          </p:cNvPr>
          <p:cNvSpPr>
            <a:spLocks noGrp="1"/>
          </p:cNvSpPr>
          <p:nvPr>
            <p:ph type="sldNum" sz="quarter" idx="12"/>
          </p:nvPr>
        </p:nvSpPr>
        <p:spPr/>
        <p:txBody>
          <a:bodyPr>
            <a:normAutofit lnSpcReduction="10000"/>
          </a:bodyPr>
          <a:lstStyle/>
          <a:p>
            <a:fld id="{6DC73CA8-7065-41A0-BD30-BF2D8C2F4EF9}" type="slidenum">
              <a:rPr lang="en-IN" smtClean="0"/>
              <a:t>2</a:t>
            </a:fld>
            <a:endParaRPr lang="en-IN" dirty="0"/>
          </a:p>
        </p:txBody>
      </p:sp>
      <p:sp>
        <p:nvSpPr>
          <p:cNvPr id="6" name="TextBox 5">
            <a:extLst>
              <a:ext uri="{FF2B5EF4-FFF2-40B4-BE49-F238E27FC236}">
                <a16:creationId xmlns:a16="http://schemas.microsoft.com/office/drawing/2014/main" id="{2E9AE891-EE6D-4E86-AD24-DD013A9CF4CE}"/>
              </a:ext>
            </a:extLst>
          </p:cNvPr>
          <p:cNvSpPr txBox="1"/>
          <p:nvPr/>
        </p:nvSpPr>
        <p:spPr>
          <a:xfrm>
            <a:off x="893149" y="1543574"/>
            <a:ext cx="4998720" cy="513217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Lucida Sans Unicode" panose="020B0602030504020204" pitchFamily="34" charset="0"/>
                <a:cs typeface="Lucida Sans Unicode" panose="020B0602030504020204" pitchFamily="34" charset="0"/>
              </a:rPr>
              <a:t>The stock market is a vast array of investors and traders who buy and sell stock, pushing the price up or down. </a:t>
            </a:r>
          </a:p>
          <a:p>
            <a:pPr marL="342900" indent="-342900" algn="just">
              <a:lnSpc>
                <a:spcPct val="150000"/>
              </a:lnSpc>
              <a:buFont typeface="Arial" panose="020B0604020202020204" pitchFamily="34" charset="0"/>
              <a:buChar char="•"/>
            </a:pPr>
            <a:r>
              <a:rPr lang="en-US" sz="2000" dirty="0">
                <a:latin typeface="Lucida Sans Unicode" panose="020B0602030504020204" pitchFamily="34" charset="0"/>
                <a:cs typeface="Lucida Sans Unicode" panose="020B0602030504020204" pitchFamily="34" charset="0"/>
              </a:rPr>
              <a:t>The prices of stocks are governed by the principles of demand and supply, and the ultimate goal of buying shares is to make money by buying stocks in companies whose perceived value (i.e., share price) is expected to rise.</a:t>
            </a:r>
            <a:endParaRPr lang="en-IN" sz="2000" dirty="0">
              <a:latin typeface="Lucida Sans Unicode" panose="020B0602030504020204" pitchFamily="34" charset="0"/>
              <a:cs typeface="Lucida Sans Unicode" panose="020B0602030504020204" pitchFamily="34" charset="0"/>
            </a:endParaRPr>
          </a:p>
        </p:txBody>
      </p:sp>
      <p:pic>
        <p:nvPicPr>
          <p:cNvPr id="8" name="Picture 7">
            <a:extLst>
              <a:ext uri="{FF2B5EF4-FFF2-40B4-BE49-F238E27FC236}">
                <a16:creationId xmlns:a16="http://schemas.microsoft.com/office/drawing/2014/main" id="{46ED7D84-E885-4A24-B6EF-69BA4C5B7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0132" y="1560352"/>
            <a:ext cx="4630723" cy="34778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15" name="Straight Connector 14">
            <a:extLst>
              <a:ext uri="{FF2B5EF4-FFF2-40B4-BE49-F238E27FC236}">
                <a16:creationId xmlns:a16="http://schemas.microsoft.com/office/drawing/2014/main" id="{AF8E9A38-299A-4F8F-9964-21B16ABB63E4}"/>
              </a:ext>
            </a:extLst>
          </p:cNvPr>
          <p:cNvCxnSpPr/>
          <p:nvPr/>
        </p:nvCxnSpPr>
        <p:spPr>
          <a:xfrm>
            <a:off x="1231504" y="1291904"/>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964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07EB4D8-5D2F-49ED-81A5-20640AD1C1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70" y="327169"/>
            <a:ext cx="4756559" cy="31710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4" name="TextBox 13">
            <a:extLst>
              <a:ext uri="{FF2B5EF4-FFF2-40B4-BE49-F238E27FC236}">
                <a16:creationId xmlns:a16="http://schemas.microsoft.com/office/drawing/2014/main" id="{FFA6DA03-D0B7-4888-8667-39CE91CA3982}"/>
              </a:ext>
            </a:extLst>
          </p:cNvPr>
          <p:cNvSpPr txBox="1"/>
          <p:nvPr/>
        </p:nvSpPr>
        <p:spPr>
          <a:xfrm>
            <a:off x="6100547" y="635417"/>
            <a:ext cx="4625130" cy="2246769"/>
          </a:xfrm>
          <a:prstGeom prst="rect">
            <a:avLst/>
          </a:prstGeom>
          <a:noFill/>
        </p:spPr>
        <p:txBody>
          <a:bodyPr wrap="square" rtlCol="0">
            <a:spAutoFit/>
          </a:bodyPr>
          <a:lstStyle/>
          <a:p>
            <a:pPr algn="just"/>
            <a:r>
              <a:rPr lang="en-US" sz="2000" dirty="0">
                <a:latin typeface="Lucida Sans Unicode" panose="020B0602030504020204" pitchFamily="34" charset="0"/>
                <a:cs typeface="Lucida Sans Unicode" panose="020B0602030504020204" pitchFamily="34" charset="0"/>
              </a:rPr>
              <a:t>The five most commonly used KPI's are the opening stock price</a:t>
            </a:r>
          </a:p>
          <a:p>
            <a:pPr algn="just"/>
            <a:r>
              <a:rPr lang="en-US" sz="2000" i="1" dirty="0">
                <a:latin typeface="Lucida Sans Unicode" panose="020B0602030504020204" pitchFamily="34" charset="0"/>
                <a:cs typeface="Lucida Sans Unicode" panose="020B0602030504020204" pitchFamily="34" charset="0"/>
              </a:rPr>
              <a:t>(`Open'), end-of-day price (`Close'), intra-day low price (`Low'), intra-day peak price (`High’), </a:t>
            </a:r>
            <a:r>
              <a:rPr lang="en-US" sz="2000" dirty="0">
                <a:latin typeface="Lucida Sans Unicode" panose="020B0602030504020204" pitchFamily="34" charset="0"/>
                <a:cs typeface="Lucida Sans Unicode" panose="020B0602030504020204" pitchFamily="34" charset="0"/>
              </a:rPr>
              <a:t>and total volume of stocks traded during the day (`Volume').</a:t>
            </a:r>
            <a:endParaRPr lang="en-IN" sz="2000" dirty="0">
              <a:latin typeface="Lucida Sans Unicode" panose="020B0602030504020204" pitchFamily="34" charset="0"/>
              <a:cs typeface="Lucida Sans Unicode" panose="020B0602030504020204" pitchFamily="34" charset="0"/>
            </a:endParaRPr>
          </a:p>
        </p:txBody>
      </p:sp>
      <p:sp>
        <p:nvSpPr>
          <p:cNvPr id="15" name="TextBox 14">
            <a:extLst>
              <a:ext uri="{FF2B5EF4-FFF2-40B4-BE49-F238E27FC236}">
                <a16:creationId xmlns:a16="http://schemas.microsoft.com/office/drawing/2014/main" id="{E060E4F1-CCC8-4F4D-AF2C-709AC587016C}"/>
              </a:ext>
            </a:extLst>
          </p:cNvPr>
          <p:cNvSpPr txBox="1"/>
          <p:nvPr/>
        </p:nvSpPr>
        <p:spPr>
          <a:xfrm>
            <a:off x="813732" y="3804615"/>
            <a:ext cx="4687697" cy="1719702"/>
          </a:xfrm>
          <a:prstGeom prst="rect">
            <a:avLst/>
          </a:prstGeom>
          <a:noFill/>
        </p:spPr>
        <p:txBody>
          <a:bodyPr wrap="square" rtlCol="0">
            <a:spAutoFit/>
          </a:bodyPr>
          <a:lstStyle/>
          <a:p>
            <a:pPr algn="ctr">
              <a:lnSpc>
                <a:spcPct val="150000"/>
              </a:lnSpc>
            </a:pPr>
            <a:r>
              <a:rPr lang="en-US" i="1" dirty="0">
                <a:solidFill>
                  <a:srgbClr val="FFFF00"/>
                </a:solidFill>
                <a:latin typeface="Lucida Sans Unicode" panose="020B0602030504020204" pitchFamily="34" charset="0"/>
                <a:cs typeface="Lucida Sans Unicode" panose="020B0602030504020204" pitchFamily="34" charset="0"/>
              </a:rPr>
              <a:t>It is near-impossible to predict stock prices to the T, owing to the volatility of factors that play a major role in the</a:t>
            </a:r>
          </a:p>
          <a:p>
            <a:pPr algn="ctr">
              <a:lnSpc>
                <a:spcPct val="150000"/>
              </a:lnSpc>
            </a:pPr>
            <a:r>
              <a:rPr lang="en-US" i="1" dirty="0">
                <a:solidFill>
                  <a:srgbClr val="FFFF00"/>
                </a:solidFill>
                <a:latin typeface="Lucida Sans Unicode" panose="020B0602030504020204" pitchFamily="34" charset="0"/>
                <a:cs typeface="Lucida Sans Unicode" panose="020B0602030504020204" pitchFamily="34" charset="0"/>
              </a:rPr>
              <a:t>movement of prices. </a:t>
            </a:r>
            <a:endParaRPr lang="en-IN" i="1" dirty="0">
              <a:solidFill>
                <a:srgbClr val="FFFF00"/>
              </a:solidFill>
              <a:latin typeface="Lucida Sans Unicode" panose="020B0602030504020204" pitchFamily="34" charset="0"/>
              <a:cs typeface="Lucida Sans Unicode" panose="020B0602030504020204" pitchFamily="34" charset="0"/>
            </a:endParaRPr>
          </a:p>
        </p:txBody>
      </p:sp>
      <p:sp>
        <p:nvSpPr>
          <p:cNvPr id="16" name="TextBox 15">
            <a:extLst>
              <a:ext uri="{FF2B5EF4-FFF2-40B4-BE49-F238E27FC236}">
                <a16:creationId xmlns:a16="http://schemas.microsoft.com/office/drawing/2014/main" id="{5C8824D4-6B29-4EEB-AF79-10C6DA6DE81B}"/>
              </a:ext>
            </a:extLst>
          </p:cNvPr>
          <p:cNvSpPr txBox="1"/>
          <p:nvPr/>
        </p:nvSpPr>
        <p:spPr>
          <a:xfrm>
            <a:off x="6178764" y="3775461"/>
            <a:ext cx="4468696" cy="2550698"/>
          </a:xfrm>
          <a:prstGeom prst="rect">
            <a:avLst/>
          </a:prstGeom>
          <a:noFill/>
        </p:spPr>
        <p:txBody>
          <a:bodyPr wrap="square" rtlCol="0">
            <a:spAutoFit/>
          </a:bodyPr>
          <a:lstStyle/>
          <a:p>
            <a:pPr algn="ctr">
              <a:lnSpc>
                <a:spcPct val="150000"/>
              </a:lnSpc>
            </a:pPr>
            <a:r>
              <a:rPr lang="en-US" i="1" dirty="0">
                <a:solidFill>
                  <a:srgbClr val="92D050"/>
                </a:solidFill>
                <a:latin typeface="Lucida Sans Unicode" panose="020B0602030504020204" pitchFamily="34" charset="0"/>
                <a:cs typeface="Lucida Sans Unicode" panose="020B0602030504020204" pitchFamily="34" charset="0"/>
              </a:rPr>
              <a:t>However, it is possible to make an educated estimate of prices. Stock</a:t>
            </a:r>
          </a:p>
          <a:p>
            <a:pPr algn="ctr">
              <a:lnSpc>
                <a:spcPct val="150000"/>
              </a:lnSpc>
            </a:pPr>
            <a:r>
              <a:rPr lang="en-US" i="1" dirty="0">
                <a:solidFill>
                  <a:srgbClr val="92D050"/>
                </a:solidFill>
                <a:latin typeface="Lucida Sans Unicode" panose="020B0602030504020204" pitchFamily="34" charset="0"/>
                <a:cs typeface="Lucida Sans Unicode" panose="020B0602030504020204" pitchFamily="34" charset="0"/>
              </a:rPr>
              <a:t>prices never vary in isolation: the movement of one tends to have an avalanche effect on</a:t>
            </a:r>
          </a:p>
          <a:p>
            <a:pPr algn="ctr">
              <a:lnSpc>
                <a:spcPct val="150000"/>
              </a:lnSpc>
            </a:pPr>
            <a:r>
              <a:rPr lang="en-US" i="1" dirty="0">
                <a:solidFill>
                  <a:srgbClr val="92D050"/>
                </a:solidFill>
                <a:latin typeface="Lucida Sans Unicode" panose="020B0602030504020204" pitchFamily="34" charset="0"/>
                <a:cs typeface="Lucida Sans Unicode" panose="020B0602030504020204" pitchFamily="34" charset="0"/>
              </a:rPr>
              <a:t>several other stocks as well.</a:t>
            </a:r>
            <a:endParaRPr lang="en-IN" sz="2000" i="1" dirty="0">
              <a:solidFill>
                <a:srgbClr val="92D050"/>
              </a:solidFill>
              <a:latin typeface="Lucida Sans Unicode" panose="020B0602030504020204" pitchFamily="34" charset="0"/>
              <a:cs typeface="Lucida Sans Unicode" panose="020B0602030504020204" pitchFamily="34" charset="0"/>
            </a:endParaRPr>
          </a:p>
        </p:txBody>
      </p:sp>
      <p:sp>
        <p:nvSpPr>
          <p:cNvPr id="17" name="Slide Number Placeholder 16">
            <a:extLst>
              <a:ext uri="{FF2B5EF4-FFF2-40B4-BE49-F238E27FC236}">
                <a16:creationId xmlns:a16="http://schemas.microsoft.com/office/drawing/2014/main" id="{50BA8777-D8E6-4108-BBEF-C1BCEAA5681A}"/>
              </a:ext>
            </a:extLst>
          </p:cNvPr>
          <p:cNvSpPr>
            <a:spLocks noGrp="1"/>
          </p:cNvSpPr>
          <p:nvPr>
            <p:ph type="sldNum" sz="quarter" idx="12"/>
          </p:nvPr>
        </p:nvSpPr>
        <p:spPr/>
        <p:txBody>
          <a:bodyPr>
            <a:normAutofit lnSpcReduction="10000"/>
          </a:bodyPr>
          <a:lstStyle/>
          <a:p>
            <a:fld id="{6DC73CA8-7065-41A0-BD30-BF2D8C2F4EF9}" type="slidenum">
              <a:rPr lang="en-IN" smtClean="0"/>
              <a:t>3</a:t>
            </a:fld>
            <a:endParaRPr lang="en-IN"/>
          </a:p>
        </p:txBody>
      </p:sp>
    </p:spTree>
    <p:extLst>
      <p:ext uri="{BB962C8B-B14F-4D97-AF65-F5344CB8AC3E}">
        <p14:creationId xmlns:p14="http://schemas.microsoft.com/office/powerpoint/2010/main" val="2850211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F0ECAD-39AC-4737-848F-C77F31536A33}"/>
              </a:ext>
            </a:extLst>
          </p:cNvPr>
          <p:cNvSpPr>
            <a:spLocks noGrp="1"/>
          </p:cNvSpPr>
          <p:nvPr>
            <p:ph type="sldNum" sz="quarter" idx="12"/>
          </p:nvPr>
        </p:nvSpPr>
        <p:spPr/>
        <p:txBody>
          <a:bodyPr>
            <a:normAutofit lnSpcReduction="10000"/>
          </a:bodyPr>
          <a:lstStyle/>
          <a:p>
            <a:fld id="{6DC73CA8-7065-41A0-BD30-BF2D8C2F4EF9}" type="slidenum">
              <a:rPr lang="en-IN" smtClean="0"/>
              <a:t>4</a:t>
            </a:fld>
            <a:endParaRPr lang="en-IN"/>
          </a:p>
        </p:txBody>
      </p:sp>
      <p:sp>
        <p:nvSpPr>
          <p:cNvPr id="7" name="Title 1">
            <a:extLst>
              <a:ext uri="{FF2B5EF4-FFF2-40B4-BE49-F238E27FC236}">
                <a16:creationId xmlns:a16="http://schemas.microsoft.com/office/drawing/2014/main" id="{5914186E-ABD8-4808-8B6E-25E447366FB1}"/>
              </a:ext>
            </a:extLst>
          </p:cNvPr>
          <p:cNvSpPr>
            <a:spLocks noGrp="1"/>
          </p:cNvSpPr>
          <p:nvPr>
            <p:ph type="ctrTitle"/>
          </p:nvPr>
        </p:nvSpPr>
        <p:spPr>
          <a:xfrm>
            <a:off x="1097280" y="591172"/>
            <a:ext cx="10058400" cy="683954"/>
          </a:xfrm>
        </p:spPr>
        <p:txBody>
          <a:bodyPr>
            <a:normAutofit/>
          </a:bodyPr>
          <a:lstStyle/>
          <a:p>
            <a:r>
              <a:rPr lang="en-US" sz="4400" dirty="0">
                <a:solidFill>
                  <a:schemeClr val="tx2"/>
                </a:solidFill>
                <a:latin typeface="Lucida Sans Unicode" panose="020B0602030504020204" pitchFamily="34" charset="0"/>
                <a:cs typeface="Lucida Sans Unicode" panose="020B0602030504020204" pitchFamily="34" charset="0"/>
              </a:rPr>
              <a:t>LITERATURE SURVEY</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8" name="Straight Connector 7">
            <a:extLst>
              <a:ext uri="{FF2B5EF4-FFF2-40B4-BE49-F238E27FC236}">
                <a16:creationId xmlns:a16="http://schemas.microsoft.com/office/drawing/2014/main" id="{B8DD47DB-86B7-4642-BB7D-ED5213627DA3}"/>
              </a:ext>
            </a:extLst>
          </p:cNvPr>
          <p:cNvCxnSpPr/>
          <p:nvPr/>
        </p:nvCxnSpPr>
        <p:spPr>
          <a:xfrm>
            <a:off x="1231504" y="1291904"/>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8DECC0D0-A427-4224-A535-FA9F14291194}"/>
              </a:ext>
            </a:extLst>
          </p:cNvPr>
          <p:cNvSpPr txBox="1"/>
          <p:nvPr/>
        </p:nvSpPr>
        <p:spPr>
          <a:xfrm>
            <a:off x="1097280" y="1954636"/>
            <a:ext cx="10058400" cy="4212692"/>
          </a:xfrm>
          <a:prstGeom prst="rect">
            <a:avLst/>
          </a:prstGeom>
          <a:noFill/>
        </p:spPr>
        <p:txBody>
          <a:bodyPr wrap="square" rtlCol="0">
            <a:spAutoFit/>
          </a:bodyPr>
          <a:lstStyle/>
          <a:p>
            <a:pPr algn="just">
              <a:lnSpc>
                <a:spcPct val="150000"/>
              </a:lnSpc>
            </a:pPr>
            <a:r>
              <a:rPr lang="en-US" dirty="0">
                <a:solidFill>
                  <a:schemeClr val="tx2"/>
                </a:solidFill>
                <a:latin typeface="Lucida Sans Unicode" panose="020B0602030504020204" pitchFamily="34" charset="0"/>
                <a:cs typeface="Lucida Sans Unicode" panose="020B0602030504020204" pitchFamily="34" charset="0"/>
              </a:rPr>
              <a:t>The stock prices predicted using </a:t>
            </a:r>
            <a:r>
              <a:rPr lang="en-US" i="1" dirty="0">
                <a:solidFill>
                  <a:srgbClr val="FFFF00"/>
                </a:solidFill>
                <a:latin typeface="Lucida Sans Unicode" panose="020B0602030504020204" pitchFamily="34" charset="0"/>
                <a:cs typeface="Lucida Sans Unicode" panose="020B0602030504020204" pitchFamily="34" charset="0"/>
              </a:rPr>
              <a:t>Logistic Regression, Gaussian Discriminant Analysis, Quadratic Discriminant Analysis, and SVM</a:t>
            </a:r>
            <a:r>
              <a:rPr lang="en-US" dirty="0">
                <a:latin typeface="Lucida Sans Unicode" panose="020B0602030504020204" pitchFamily="34" charset="0"/>
                <a:cs typeface="Lucida Sans Unicode" panose="020B0602030504020204" pitchFamily="34" charset="0"/>
              </a:rPr>
              <a:t>.</a:t>
            </a:r>
          </a:p>
          <a:p>
            <a:pPr algn="just">
              <a:lnSpc>
                <a:spcPct val="150000"/>
              </a:lnSpc>
            </a:pPr>
            <a:r>
              <a:rPr lang="en-US" dirty="0">
                <a:latin typeface="Lucida Sans Unicode" panose="020B0602030504020204" pitchFamily="34" charset="0"/>
                <a:cs typeface="Lucida Sans Unicode" panose="020B0602030504020204" pitchFamily="34" charset="0"/>
              </a:rPr>
              <a:t>With the short-term model predicting the next day stock price, it has very low accuracy, the Quadratic Discriminant Analysis is the best among all models, it scored a </a:t>
            </a:r>
            <a:r>
              <a:rPr lang="en-US" b="1" i="1" dirty="0">
                <a:solidFill>
                  <a:srgbClr val="FFFF00"/>
                </a:solidFill>
                <a:latin typeface="Lucida Sans Unicode" panose="020B0602030504020204" pitchFamily="34" charset="0"/>
                <a:cs typeface="Lucida Sans Unicode" panose="020B0602030504020204" pitchFamily="34" charset="0"/>
              </a:rPr>
              <a:t>58.2% accuracy. </a:t>
            </a:r>
            <a:endParaRPr lang="en-US" dirty="0">
              <a:solidFill>
                <a:srgbClr val="FFFF00"/>
              </a:solidFill>
              <a:latin typeface="Lucida Sans Unicode" panose="020B0602030504020204" pitchFamily="34" charset="0"/>
              <a:cs typeface="Lucida Sans Unicode" panose="020B0602030504020204" pitchFamily="34" charset="0"/>
            </a:endParaRPr>
          </a:p>
          <a:p>
            <a:pPr algn="just">
              <a:lnSpc>
                <a:spcPct val="150000"/>
              </a:lnSpc>
            </a:pPr>
            <a:r>
              <a:rPr lang="en-US" dirty="0">
                <a:solidFill>
                  <a:schemeClr val="tx1">
                    <a:lumMod val="95000"/>
                  </a:schemeClr>
                </a:solidFill>
                <a:latin typeface="Lucida Sans Unicode" panose="020B0602030504020204" pitchFamily="34" charset="0"/>
                <a:cs typeface="Lucida Sans Unicode" panose="020B0602030504020204" pitchFamily="34" charset="0"/>
              </a:rPr>
              <a:t>With a time window of 44 days, the </a:t>
            </a:r>
            <a:r>
              <a:rPr lang="en-US" i="1" dirty="0">
                <a:solidFill>
                  <a:srgbClr val="FFFF00"/>
                </a:solidFill>
                <a:latin typeface="Lucida Sans Unicode" panose="020B0602030504020204" pitchFamily="34" charset="0"/>
                <a:cs typeface="Lucida Sans Unicode" panose="020B0602030504020204" pitchFamily="34" charset="0"/>
              </a:rPr>
              <a:t>SVM model’s accuracy reached 79.3%. </a:t>
            </a:r>
            <a:r>
              <a:rPr lang="en-US" dirty="0">
                <a:solidFill>
                  <a:schemeClr val="tx1">
                    <a:lumMod val="95000"/>
                  </a:schemeClr>
                </a:solidFill>
                <a:latin typeface="Lucida Sans Unicode" panose="020B0602030504020204" pitchFamily="34" charset="0"/>
                <a:cs typeface="Lucida Sans Unicode" panose="020B0602030504020204" pitchFamily="34" charset="0"/>
              </a:rPr>
              <a:t>Apart from that, it was found that by increasing the number of features, the accuracy increased. When all of the features were used, the </a:t>
            </a:r>
            <a:r>
              <a:rPr lang="en-US" i="1" dirty="0">
                <a:solidFill>
                  <a:srgbClr val="FFFF00"/>
                </a:solidFill>
                <a:latin typeface="Lucida Sans Unicode" panose="020B0602030504020204" pitchFamily="34" charset="0"/>
                <a:cs typeface="Lucida Sans Unicode" panose="020B0602030504020204" pitchFamily="34" charset="0"/>
              </a:rPr>
              <a:t>accuracy of the model reached 79%, </a:t>
            </a:r>
            <a:r>
              <a:rPr lang="en-US" dirty="0">
                <a:solidFill>
                  <a:schemeClr val="tx1">
                    <a:lumMod val="95000"/>
                  </a:schemeClr>
                </a:solidFill>
                <a:latin typeface="Lucida Sans Unicode" panose="020B0602030504020204" pitchFamily="34" charset="0"/>
                <a:cs typeface="Lucida Sans Unicode" panose="020B0602030504020204" pitchFamily="34" charset="0"/>
              </a:rPr>
              <a:t>while it fell to 64% when features </a:t>
            </a:r>
            <a:r>
              <a:rPr lang="en-US">
                <a:solidFill>
                  <a:schemeClr val="tx1">
                    <a:lumMod val="95000"/>
                  </a:schemeClr>
                </a:solidFill>
                <a:latin typeface="Lucida Sans Unicode" panose="020B0602030504020204" pitchFamily="34" charset="0"/>
                <a:cs typeface="Lucida Sans Unicode" panose="020B0602030504020204" pitchFamily="34" charset="0"/>
              </a:rPr>
              <a:t>were reduced, </a:t>
            </a:r>
            <a:r>
              <a:rPr lang="en-US" dirty="0">
                <a:solidFill>
                  <a:schemeClr val="tx1">
                    <a:lumMod val="95000"/>
                  </a:schemeClr>
                </a:solidFill>
                <a:latin typeface="Lucida Sans Unicode" panose="020B0602030504020204" pitchFamily="34" charset="0"/>
                <a:cs typeface="Lucida Sans Unicode" panose="020B0602030504020204" pitchFamily="34" charset="0"/>
              </a:rPr>
              <a:t>and 55% if </a:t>
            </a:r>
            <a:r>
              <a:rPr lang="en-US">
                <a:solidFill>
                  <a:schemeClr val="tx1">
                    <a:lumMod val="95000"/>
                  </a:schemeClr>
                </a:solidFill>
                <a:latin typeface="Lucida Sans Unicode" panose="020B0602030504020204" pitchFamily="34" charset="0"/>
                <a:cs typeface="Lucida Sans Unicode" panose="020B0602030504020204" pitchFamily="34" charset="0"/>
              </a:rPr>
              <a:t>only one </a:t>
            </a:r>
            <a:r>
              <a:rPr lang="en-US" dirty="0">
                <a:solidFill>
                  <a:schemeClr val="tx1">
                    <a:lumMod val="95000"/>
                  </a:schemeClr>
                </a:solidFill>
                <a:latin typeface="Lucida Sans Unicode" panose="020B0602030504020204" pitchFamily="34" charset="0"/>
                <a:cs typeface="Lucida Sans Unicode" panose="020B0602030504020204" pitchFamily="34" charset="0"/>
              </a:rPr>
              <a:t>feature was used. [2]</a:t>
            </a:r>
            <a:endParaRPr lang="en-US" dirty="0">
              <a:solidFill>
                <a:srgbClr val="FFFF00"/>
              </a:solidFill>
              <a:latin typeface="Lucida Sans Unicode" panose="020B0602030504020204" pitchFamily="34" charset="0"/>
              <a:cs typeface="Lucida Sans Unicode" panose="020B0602030504020204" pitchFamily="34" charset="0"/>
            </a:endParaRPr>
          </a:p>
          <a:p>
            <a:pPr algn="just">
              <a:lnSpc>
                <a:spcPct val="150000"/>
              </a:lnSpc>
            </a:pPr>
            <a:endParaRPr lang="en-IN" dirty="0">
              <a:solidFill>
                <a:schemeClr val="tx1">
                  <a:lumMod val="95000"/>
                </a:schemeClr>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2960015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F0ECAD-39AC-4737-848F-C77F31536A33}"/>
              </a:ext>
            </a:extLst>
          </p:cNvPr>
          <p:cNvSpPr>
            <a:spLocks noGrp="1"/>
          </p:cNvSpPr>
          <p:nvPr>
            <p:ph type="sldNum" sz="quarter" idx="12"/>
          </p:nvPr>
        </p:nvSpPr>
        <p:spPr/>
        <p:txBody>
          <a:bodyPr>
            <a:normAutofit lnSpcReduction="10000"/>
          </a:bodyPr>
          <a:lstStyle/>
          <a:p>
            <a:fld id="{6DC73CA8-7065-41A0-BD30-BF2D8C2F4EF9}" type="slidenum">
              <a:rPr lang="en-IN" smtClean="0"/>
              <a:t>5</a:t>
            </a:fld>
            <a:endParaRPr lang="en-IN"/>
          </a:p>
        </p:txBody>
      </p:sp>
      <p:sp>
        <p:nvSpPr>
          <p:cNvPr id="7" name="Title 1">
            <a:extLst>
              <a:ext uri="{FF2B5EF4-FFF2-40B4-BE49-F238E27FC236}">
                <a16:creationId xmlns:a16="http://schemas.microsoft.com/office/drawing/2014/main" id="{5914186E-ABD8-4808-8B6E-25E447366FB1}"/>
              </a:ext>
            </a:extLst>
          </p:cNvPr>
          <p:cNvSpPr>
            <a:spLocks noGrp="1"/>
          </p:cNvSpPr>
          <p:nvPr>
            <p:ph type="ctrTitle"/>
          </p:nvPr>
        </p:nvSpPr>
        <p:spPr>
          <a:xfrm>
            <a:off x="1097280" y="591172"/>
            <a:ext cx="10058400" cy="683954"/>
          </a:xfrm>
        </p:spPr>
        <p:txBody>
          <a:bodyPr>
            <a:normAutofit/>
          </a:bodyPr>
          <a:lstStyle/>
          <a:p>
            <a:r>
              <a:rPr lang="en-US" sz="4400" dirty="0">
                <a:solidFill>
                  <a:schemeClr val="tx2"/>
                </a:solidFill>
                <a:latin typeface="Lucida Sans Unicode" panose="020B0602030504020204" pitchFamily="34" charset="0"/>
                <a:cs typeface="Lucida Sans Unicode" panose="020B0602030504020204" pitchFamily="34" charset="0"/>
              </a:rPr>
              <a:t>LITERATURE SURVEY</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8" name="Straight Connector 7">
            <a:extLst>
              <a:ext uri="{FF2B5EF4-FFF2-40B4-BE49-F238E27FC236}">
                <a16:creationId xmlns:a16="http://schemas.microsoft.com/office/drawing/2014/main" id="{B8DD47DB-86B7-4642-BB7D-ED5213627DA3}"/>
              </a:ext>
            </a:extLst>
          </p:cNvPr>
          <p:cNvCxnSpPr/>
          <p:nvPr/>
        </p:nvCxnSpPr>
        <p:spPr>
          <a:xfrm>
            <a:off x="1231504" y="1291904"/>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8DECC0D0-A427-4224-A535-FA9F14291194}"/>
              </a:ext>
            </a:extLst>
          </p:cNvPr>
          <p:cNvSpPr txBox="1"/>
          <p:nvPr/>
        </p:nvSpPr>
        <p:spPr>
          <a:xfrm>
            <a:off x="1097280" y="1954636"/>
            <a:ext cx="10058400" cy="600164"/>
          </a:xfrm>
          <a:prstGeom prst="rect">
            <a:avLst/>
          </a:prstGeom>
          <a:noFill/>
        </p:spPr>
        <p:txBody>
          <a:bodyPr wrap="square" rtlCol="0">
            <a:spAutoFit/>
          </a:bodyPr>
          <a:lstStyle/>
          <a:p>
            <a:pPr>
              <a:lnSpc>
                <a:spcPct val="150000"/>
              </a:lnSpc>
            </a:pPr>
            <a:r>
              <a:rPr lang="en-US" sz="2400" dirty="0">
                <a:solidFill>
                  <a:schemeClr val="tx1">
                    <a:lumMod val="95000"/>
                  </a:schemeClr>
                </a:solidFill>
                <a:latin typeface="Lucida Sans Unicode" panose="020B0602030504020204" pitchFamily="34" charset="0"/>
                <a:cs typeface="Lucida Sans Unicode" panose="020B0602030504020204" pitchFamily="34" charset="0"/>
              </a:rPr>
              <a:t>Stock price predicted using </a:t>
            </a:r>
            <a:r>
              <a:rPr lang="en-US" sz="2400" i="1" dirty="0">
                <a:solidFill>
                  <a:srgbClr val="FFFF00"/>
                </a:solidFill>
                <a:latin typeface="Lucida Sans Unicode" panose="020B0602030504020204" pitchFamily="34" charset="0"/>
                <a:cs typeface="Lucida Sans Unicode" panose="020B0602030504020204" pitchFamily="34" charset="0"/>
              </a:rPr>
              <a:t>Artificial Neural Network.</a:t>
            </a:r>
          </a:p>
        </p:txBody>
      </p:sp>
      <p:sp>
        <p:nvSpPr>
          <p:cNvPr id="4" name="TextBox 3">
            <a:extLst>
              <a:ext uri="{FF2B5EF4-FFF2-40B4-BE49-F238E27FC236}">
                <a16:creationId xmlns:a16="http://schemas.microsoft.com/office/drawing/2014/main" id="{A2C1A375-0B84-444D-AF95-E797B3967B2D}"/>
              </a:ext>
            </a:extLst>
          </p:cNvPr>
          <p:cNvSpPr txBox="1"/>
          <p:nvPr/>
        </p:nvSpPr>
        <p:spPr>
          <a:xfrm>
            <a:off x="1097280" y="2721241"/>
            <a:ext cx="9649017" cy="2362185"/>
          </a:xfrm>
          <a:prstGeom prst="rect">
            <a:avLst/>
          </a:prstGeom>
          <a:noFill/>
        </p:spPr>
        <p:txBody>
          <a:bodyPr wrap="square" rtlCol="0">
            <a:spAutoFit/>
          </a:bodyPr>
          <a:lstStyle/>
          <a:p>
            <a:pPr algn="just">
              <a:lnSpc>
                <a:spcPct val="150000"/>
              </a:lnSpc>
            </a:pPr>
            <a:r>
              <a:rPr lang="en-US" sz="2000" dirty="0">
                <a:latin typeface="Lucida Sans Unicode" panose="020B0602030504020204" pitchFamily="34" charset="0"/>
                <a:cs typeface="Lucida Sans Unicode" panose="020B0602030504020204" pitchFamily="34" charset="0"/>
              </a:rPr>
              <a:t>They used </a:t>
            </a:r>
            <a:r>
              <a:rPr lang="en-US" sz="2000" i="1" dirty="0">
                <a:solidFill>
                  <a:srgbClr val="FFFF00"/>
                </a:solidFill>
                <a:latin typeface="Lucida Sans Unicode" panose="020B0602030504020204" pitchFamily="34" charset="0"/>
                <a:cs typeface="Lucida Sans Unicode" panose="020B0602030504020204" pitchFamily="34" charset="0"/>
              </a:rPr>
              <a:t>70% of the training data </a:t>
            </a:r>
            <a:r>
              <a:rPr lang="en-US" sz="2000" dirty="0">
                <a:latin typeface="Lucida Sans Unicode" panose="020B0602030504020204" pitchFamily="34" charset="0"/>
                <a:cs typeface="Lucida Sans Unicode" panose="020B0602030504020204" pitchFamily="34" charset="0"/>
              </a:rPr>
              <a:t>to predict the stock prices for the next 60 days. Through optimizations, they were able to predict the actual closing prices within 0.71% mean absolute percentage error (MAPE), with the highest variance -3.2% among all of the 62 days. This demonstrated a high potential for using machine learning to accurately predict stock prices.[7]</a:t>
            </a:r>
            <a:endParaRPr lang="en-IN" sz="2000"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277612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B02364-9967-46E2-AD7C-8FD626E1EF33}"/>
              </a:ext>
            </a:extLst>
          </p:cNvPr>
          <p:cNvSpPr txBox="1">
            <a:spLocks/>
          </p:cNvSpPr>
          <p:nvPr/>
        </p:nvSpPr>
        <p:spPr>
          <a:xfrm>
            <a:off x="789963" y="389837"/>
            <a:ext cx="10058400" cy="683954"/>
          </a:xfrm>
          <a:prstGeom prst="rect">
            <a:avLst/>
          </a:prstGeom>
        </p:spPr>
        <p:txBody>
          <a:bodyPr vert="horz" lIns="91440" tIns="27432" rIns="91440" bIns="45720" rtlCol="0" anchor="b">
            <a:normAutofit/>
          </a:bodyPr>
          <a:lstStyle>
            <a:lvl1pPr algn="l" defTabSz="914400" rtl="0" eaLnBrk="1" latinLnBrk="0" hangingPunct="1">
              <a:lnSpc>
                <a:spcPct val="85000"/>
              </a:lnSpc>
              <a:spcBef>
                <a:spcPct val="0"/>
              </a:spcBef>
              <a:buNone/>
              <a:defRPr sz="7200" b="1" kern="1200" spc="-50" baseline="0">
                <a:solidFill>
                  <a:schemeClr val="tx1"/>
                </a:solidFill>
                <a:latin typeface="+mj-lt"/>
                <a:ea typeface="+mj-ea"/>
                <a:cs typeface="+mj-cs"/>
              </a:defRPr>
            </a:lvl1pPr>
          </a:lstStyle>
          <a:p>
            <a:r>
              <a:rPr lang="en-US" sz="4400" dirty="0">
                <a:solidFill>
                  <a:schemeClr val="tx2"/>
                </a:solidFill>
                <a:latin typeface="Lucida Sans Unicode" panose="020B0602030504020204" pitchFamily="34" charset="0"/>
                <a:cs typeface="Lucida Sans Unicode" panose="020B0602030504020204" pitchFamily="34" charset="0"/>
              </a:rPr>
              <a:t>PROBLEM STATEMENT</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10" name="Straight Connector 9">
            <a:extLst>
              <a:ext uri="{FF2B5EF4-FFF2-40B4-BE49-F238E27FC236}">
                <a16:creationId xmlns:a16="http://schemas.microsoft.com/office/drawing/2014/main" id="{EF5CC764-1C25-4DB7-A807-58B756DAD28E}"/>
              </a:ext>
            </a:extLst>
          </p:cNvPr>
          <p:cNvCxnSpPr/>
          <p:nvPr/>
        </p:nvCxnSpPr>
        <p:spPr>
          <a:xfrm>
            <a:off x="924187" y="1090569"/>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C596B4F3-9E58-48DF-9CC2-70619A137B3B}"/>
              </a:ext>
            </a:extLst>
          </p:cNvPr>
          <p:cNvSpPr txBox="1"/>
          <p:nvPr/>
        </p:nvSpPr>
        <p:spPr>
          <a:xfrm>
            <a:off x="924187" y="1937857"/>
            <a:ext cx="8270147" cy="4431983"/>
          </a:xfrm>
          <a:prstGeom prst="rect">
            <a:avLst/>
          </a:prstGeom>
          <a:noFill/>
        </p:spPr>
        <p:txBody>
          <a:bodyPr wrap="square" rtlCol="0">
            <a:spAutoFit/>
          </a:bodyPr>
          <a:lstStyle/>
          <a:p>
            <a:r>
              <a:rPr lang="en-US" sz="2800" i="1" u="sng" dirty="0">
                <a:solidFill>
                  <a:srgbClr val="FFFF00"/>
                </a:solidFill>
                <a:latin typeface="Lucida Sans Unicode" panose="020B0602030504020204" pitchFamily="34" charset="0"/>
                <a:cs typeface="Lucida Sans Unicode" panose="020B0602030504020204" pitchFamily="34" charset="0"/>
              </a:rPr>
              <a:t>Machine learning based Stock price prediction.</a:t>
            </a:r>
          </a:p>
          <a:p>
            <a:endParaRPr lang="en-US" sz="2400" u="sng" dirty="0">
              <a:latin typeface="Lucida Sans Unicode" panose="020B0602030504020204" pitchFamily="34" charset="0"/>
              <a:cs typeface="Lucida Sans Unicode" panose="020B0602030504020204" pitchFamily="34" charset="0"/>
            </a:endParaRPr>
          </a:p>
          <a:p>
            <a:pPr algn="just">
              <a:lnSpc>
                <a:spcPct val="150000"/>
              </a:lnSpc>
            </a:pPr>
            <a:r>
              <a:rPr lang="en-US" sz="2000" dirty="0">
                <a:latin typeface="Lucida Sans Unicode" panose="020B0602030504020204" pitchFamily="34" charset="0"/>
                <a:cs typeface="Lucida Sans Unicode" panose="020B0602030504020204" pitchFamily="34" charset="0"/>
              </a:rPr>
              <a:t>Is this project we propose to make a system which will take the stock price data of companies like Tata Beverages, Facebook, Apple, Tesla and Microsoft and predict the stock prices of their stocks using only some of the data for training and rest for testing.</a:t>
            </a:r>
          </a:p>
          <a:p>
            <a:pPr algn="just">
              <a:lnSpc>
                <a:spcPct val="150000"/>
              </a:lnSpc>
            </a:pPr>
            <a:r>
              <a:rPr lang="en-US" sz="2000" dirty="0">
                <a:latin typeface="Lucida Sans Unicode" panose="020B0602030504020204" pitchFamily="34" charset="0"/>
                <a:cs typeface="Lucida Sans Unicode" panose="020B0602030504020204" pitchFamily="34" charset="0"/>
              </a:rPr>
              <a:t>The predicted stock prices will be compared to the actual stock prices and evaluated as to how accurate is the model.</a:t>
            </a:r>
          </a:p>
          <a:p>
            <a:endParaRPr lang="en-IN" sz="2000"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269514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B02364-9967-46E2-AD7C-8FD626E1EF33}"/>
              </a:ext>
            </a:extLst>
          </p:cNvPr>
          <p:cNvSpPr txBox="1">
            <a:spLocks/>
          </p:cNvSpPr>
          <p:nvPr/>
        </p:nvSpPr>
        <p:spPr>
          <a:xfrm>
            <a:off x="789963" y="389837"/>
            <a:ext cx="10058400" cy="683954"/>
          </a:xfrm>
          <a:prstGeom prst="rect">
            <a:avLst/>
          </a:prstGeom>
        </p:spPr>
        <p:txBody>
          <a:bodyPr vert="horz" lIns="91440" tIns="27432" rIns="91440" bIns="45720" rtlCol="0" anchor="b">
            <a:normAutofit/>
          </a:bodyPr>
          <a:lstStyle>
            <a:lvl1pPr algn="l" defTabSz="914400" rtl="0" eaLnBrk="1" latinLnBrk="0" hangingPunct="1">
              <a:lnSpc>
                <a:spcPct val="85000"/>
              </a:lnSpc>
              <a:spcBef>
                <a:spcPct val="0"/>
              </a:spcBef>
              <a:buNone/>
              <a:defRPr sz="7200" b="1" kern="1200" spc="-50" baseline="0">
                <a:solidFill>
                  <a:schemeClr val="tx1"/>
                </a:solidFill>
                <a:latin typeface="+mj-lt"/>
                <a:ea typeface="+mj-ea"/>
                <a:cs typeface="+mj-cs"/>
              </a:defRPr>
            </a:lvl1pPr>
          </a:lstStyle>
          <a:p>
            <a:r>
              <a:rPr lang="en-US" sz="4400" dirty="0">
                <a:solidFill>
                  <a:schemeClr val="tx2"/>
                </a:solidFill>
                <a:latin typeface="Lucida Sans Unicode" panose="020B0602030504020204" pitchFamily="34" charset="0"/>
                <a:cs typeface="Lucida Sans Unicode" panose="020B0602030504020204" pitchFamily="34" charset="0"/>
              </a:rPr>
              <a:t>OBJECTIVES</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10" name="Straight Connector 9">
            <a:extLst>
              <a:ext uri="{FF2B5EF4-FFF2-40B4-BE49-F238E27FC236}">
                <a16:creationId xmlns:a16="http://schemas.microsoft.com/office/drawing/2014/main" id="{EF5CC764-1C25-4DB7-A807-58B756DAD28E}"/>
              </a:ext>
            </a:extLst>
          </p:cNvPr>
          <p:cNvCxnSpPr/>
          <p:nvPr/>
        </p:nvCxnSpPr>
        <p:spPr>
          <a:xfrm>
            <a:off x="924187" y="1090569"/>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333AED5-1C73-42CC-A62B-A4C0052730B3}"/>
              </a:ext>
            </a:extLst>
          </p:cNvPr>
          <p:cNvSpPr txBox="1"/>
          <p:nvPr/>
        </p:nvSpPr>
        <p:spPr>
          <a:xfrm>
            <a:off x="924187" y="1303730"/>
            <a:ext cx="7383710" cy="600164"/>
          </a:xfrm>
          <a:prstGeom prst="rect">
            <a:avLst/>
          </a:prstGeom>
          <a:noFill/>
        </p:spPr>
        <p:txBody>
          <a:bodyPr wrap="square" rtlCol="0">
            <a:spAutoFit/>
          </a:bodyPr>
          <a:lstStyle/>
          <a:p>
            <a:pPr algn="just">
              <a:lnSpc>
                <a:spcPct val="150000"/>
              </a:lnSpc>
            </a:pPr>
            <a:r>
              <a:rPr lang="en-US" sz="2400" i="1" dirty="0">
                <a:latin typeface="Lucida Sans Unicode" panose="020B0602030504020204" pitchFamily="34" charset="0"/>
                <a:cs typeface="Lucida Sans Unicode" panose="020B0602030504020204" pitchFamily="34" charset="0"/>
              </a:rPr>
              <a:t>The main objectives of this project are…</a:t>
            </a:r>
            <a:endParaRPr lang="en-IN" sz="2400" i="1" dirty="0">
              <a:latin typeface="Lucida Sans Unicode" panose="020B0602030504020204" pitchFamily="34" charset="0"/>
              <a:cs typeface="Lucida Sans Unicode" panose="020B0602030504020204" pitchFamily="34" charset="0"/>
            </a:endParaRPr>
          </a:p>
        </p:txBody>
      </p:sp>
      <p:sp>
        <p:nvSpPr>
          <p:cNvPr id="4" name="TextBox 3">
            <a:extLst>
              <a:ext uri="{FF2B5EF4-FFF2-40B4-BE49-F238E27FC236}">
                <a16:creationId xmlns:a16="http://schemas.microsoft.com/office/drawing/2014/main" id="{5746D82F-4D4F-4E07-96F8-AE06ED3F8C78}"/>
              </a:ext>
            </a:extLst>
          </p:cNvPr>
          <p:cNvSpPr txBox="1"/>
          <p:nvPr/>
        </p:nvSpPr>
        <p:spPr>
          <a:xfrm>
            <a:off x="612397" y="2117054"/>
            <a:ext cx="9858462" cy="466281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ü"/>
            </a:pPr>
            <a:r>
              <a:rPr lang="en-US" dirty="0">
                <a:latin typeface="Lucida Sans Unicode" panose="020B0602030504020204" pitchFamily="34" charset="0"/>
                <a:cs typeface="Lucida Sans Unicode" panose="020B0602030504020204" pitchFamily="34" charset="0"/>
              </a:rPr>
              <a:t>T</a:t>
            </a:r>
            <a:r>
              <a:rPr lang="en-US" sz="1800" dirty="0">
                <a:latin typeface="Lucida Sans Unicode" panose="020B0602030504020204" pitchFamily="34" charset="0"/>
                <a:cs typeface="Lucida Sans Unicode" panose="020B0602030504020204" pitchFamily="34" charset="0"/>
              </a:rPr>
              <a:t>o study about different methodology’s and get a stock market prediction tool to obtain more accurate stock prediction price and to evaluate them with some performance measures.</a:t>
            </a:r>
          </a:p>
          <a:p>
            <a:pPr marL="285750" indent="-285750" algn="just">
              <a:lnSpc>
                <a:spcPct val="150000"/>
              </a:lnSpc>
              <a:buFont typeface="Wingdings" panose="05000000000000000000" pitchFamily="2" charset="2"/>
              <a:buChar char="ü"/>
            </a:pPr>
            <a:endParaRPr lang="en-US" sz="1800" dirty="0">
              <a:latin typeface="Lucida Sans Unicode" panose="020B0602030504020204" pitchFamily="34" charset="0"/>
              <a:cs typeface="Lucida Sans Unicode" panose="020B0602030504020204" pitchFamily="34" charset="0"/>
            </a:endParaRPr>
          </a:p>
          <a:p>
            <a:pPr marL="285750" indent="-285750" algn="just">
              <a:lnSpc>
                <a:spcPct val="150000"/>
              </a:lnSpc>
              <a:buFont typeface="Wingdings" panose="05000000000000000000" pitchFamily="2" charset="2"/>
              <a:buChar char="ü"/>
            </a:pPr>
            <a:r>
              <a:rPr lang="en-US" sz="1800" dirty="0">
                <a:latin typeface="Lucida Sans Unicode" panose="020B0602030504020204" pitchFamily="34" charset="0"/>
                <a:cs typeface="Lucida Sans Unicode" panose="020B0602030504020204" pitchFamily="34" charset="0"/>
              </a:rPr>
              <a:t>This study can be used to reduce the error proportion in predicting the future stock prices.</a:t>
            </a:r>
          </a:p>
          <a:p>
            <a:pPr marL="285750" indent="-285750" algn="just">
              <a:lnSpc>
                <a:spcPct val="150000"/>
              </a:lnSpc>
              <a:buFont typeface="Wingdings" panose="05000000000000000000" pitchFamily="2" charset="2"/>
              <a:buChar char="ü"/>
            </a:pPr>
            <a:endParaRPr lang="en-US" sz="1800" dirty="0">
              <a:latin typeface="Lucida Sans Unicode" panose="020B0602030504020204" pitchFamily="34" charset="0"/>
              <a:cs typeface="Lucida Sans Unicode" panose="020B0602030504020204" pitchFamily="34" charset="0"/>
            </a:endParaRPr>
          </a:p>
          <a:p>
            <a:pPr marL="285750" indent="-285750" algn="just">
              <a:lnSpc>
                <a:spcPct val="150000"/>
              </a:lnSpc>
              <a:buFont typeface="Wingdings" panose="05000000000000000000" pitchFamily="2" charset="2"/>
              <a:buChar char="ü"/>
            </a:pPr>
            <a:r>
              <a:rPr lang="en-US" sz="1800" dirty="0">
                <a:latin typeface="Lucida Sans Unicode" panose="020B0602030504020204" pitchFamily="34" charset="0"/>
                <a:cs typeface="Lucida Sans Unicode" panose="020B0602030504020204" pitchFamily="34" charset="0"/>
              </a:rPr>
              <a:t>The predicted stock prices will be will be visualized using python’s </a:t>
            </a:r>
            <a:r>
              <a:rPr lang="en-US" sz="1800" b="0" i="0" dirty="0">
                <a:solidFill>
                  <a:schemeClr val="tx1">
                    <a:lumMod val="95000"/>
                  </a:schemeClr>
                </a:solidFill>
                <a:effectLst/>
                <a:latin typeface="Lucida Sans Unicode" panose="020B0602030504020204" pitchFamily="34" charset="0"/>
                <a:cs typeface="Lucida Sans Unicode" panose="020B0602030504020204" pitchFamily="34" charset="0"/>
              </a:rPr>
              <a:t>framework for building web analytic applications </a:t>
            </a:r>
            <a:r>
              <a:rPr lang="en-US" sz="1800" dirty="0">
                <a:solidFill>
                  <a:srgbClr val="FFFF00"/>
                </a:solidFill>
                <a:latin typeface="Lucida Sans Unicode" panose="020B0602030504020204" pitchFamily="34" charset="0"/>
                <a:cs typeface="Lucida Sans Unicode" panose="020B0602030504020204" pitchFamily="34" charset="0"/>
              </a:rPr>
              <a:t>Dash</a:t>
            </a:r>
            <a:r>
              <a:rPr lang="en-US" sz="1800" dirty="0">
                <a:latin typeface="Lucida Sans Unicode" panose="020B0602030504020204" pitchFamily="34" charset="0"/>
                <a:cs typeface="Lucida Sans Unicode" panose="020B0602030504020204" pitchFamily="34" charset="0"/>
              </a:rPr>
              <a:t> which is very useful for data visualization.</a:t>
            </a:r>
            <a:endParaRPr lang="en-IN" sz="1800" dirty="0">
              <a:latin typeface="Lucida Sans Unicode" panose="020B0602030504020204" pitchFamily="34" charset="0"/>
              <a:cs typeface="Lucida Sans Unicode" panose="020B0602030504020204" pitchFamily="34" charset="0"/>
            </a:endParaRPr>
          </a:p>
          <a:p>
            <a:pPr marL="285750" indent="-285750" algn="just">
              <a:buFont typeface="Wingdings" panose="05000000000000000000" pitchFamily="2" charset="2"/>
              <a:buChar char="ü"/>
            </a:pPr>
            <a:endParaRPr lang="en-US" sz="1800" dirty="0">
              <a:latin typeface="Lucida Sans Unicode" panose="020B0602030504020204" pitchFamily="34" charset="0"/>
              <a:cs typeface="Lucida Sans Unicode" panose="020B0602030504020204" pitchFamily="34" charset="0"/>
            </a:endParaRPr>
          </a:p>
          <a:p>
            <a:pPr marL="285750" indent="-285750">
              <a:buFont typeface="Wingdings" panose="05000000000000000000" pitchFamily="2" charset="2"/>
              <a:buChar char="ü"/>
            </a:pPr>
            <a:endParaRPr lang="en-US" sz="1800" dirty="0">
              <a:latin typeface="Lucida Sans Unicode" panose="020B0602030504020204" pitchFamily="34" charset="0"/>
              <a:cs typeface="Lucida Sans Unicode" panose="020B0602030504020204" pitchFamily="34" charset="0"/>
            </a:endParaRPr>
          </a:p>
          <a:p>
            <a:pPr marL="285750" indent="-285750">
              <a:buFont typeface="Wingdings" panose="05000000000000000000" pitchFamily="2" charset="2"/>
              <a:buChar char="ü"/>
            </a:pPr>
            <a:endParaRPr lang="en-IN" dirty="0"/>
          </a:p>
        </p:txBody>
      </p:sp>
    </p:spTree>
    <p:extLst>
      <p:ext uri="{BB962C8B-B14F-4D97-AF65-F5344CB8AC3E}">
        <p14:creationId xmlns:p14="http://schemas.microsoft.com/office/powerpoint/2010/main" val="3589612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B02364-9967-46E2-AD7C-8FD626E1EF33}"/>
              </a:ext>
            </a:extLst>
          </p:cNvPr>
          <p:cNvSpPr txBox="1">
            <a:spLocks/>
          </p:cNvSpPr>
          <p:nvPr/>
        </p:nvSpPr>
        <p:spPr>
          <a:xfrm>
            <a:off x="789963" y="389837"/>
            <a:ext cx="10058400" cy="683954"/>
          </a:xfrm>
          <a:prstGeom prst="rect">
            <a:avLst/>
          </a:prstGeom>
        </p:spPr>
        <p:txBody>
          <a:bodyPr vert="horz" lIns="91440" tIns="27432" rIns="91440" bIns="45720" rtlCol="0" anchor="b">
            <a:normAutofit/>
          </a:bodyPr>
          <a:lstStyle>
            <a:lvl1pPr algn="l" defTabSz="914400" rtl="0" eaLnBrk="1" latinLnBrk="0" hangingPunct="1">
              <a:lnSpc>
                <a:spcPct val="85000"/>
              </a:lnSpc>
              <a:spcBef>
                <a:spcPct val="0"/>
              </a:spcBef>
              <a:buNone/>
              <a:defRPr sz="7200" b="1" kern="1200" spc="-50" baseline="0">
                <a:solidFill>
                  <a:schemeClr val="tx1"/>
                </a:solidFill>
                <a:latin typeface="+mj-lt"/>
                <a:ea typeface="+mj-ea"/>
                <a:cs typeface="+mj-cs"/>
              </a:defRPr>
            </a:lvl1pPr>
          </a:lstStyle>
          <a:p>
            <a:r>
              <a:rPr lang="en-US" sz="4400" dirty="0">
                <a:solidFill>
                  <a:schemeClr val="tx2"/>
                </a:solidFill>
                <a:latin typeface="Lucida Sans Unicode" panose="020B0602030504020204" pitchFamily="34" charset="0"/>
                <a:cs typeface="Lucida Sans Unicode" panose="020B0602030504020204" pitchFamily="34" charset="0"/>
              </a:rPr>
              <a:t>METHODOLOGY</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10" name="Straight Connector 9">
            <a:extLst>
              <a:ext uri="{FF2B5EF4-FFF2-40B4-BE49-F238E27FC236}">
                <a16:creationId xmlns:a16="http://schemas.microsoft.com/office/drawing/2014/main" id="{EF5CC764-1C25-4DB7-A807-58B756DAD28E}"/>
              </a:ext>
            </a:extLst>
          </p:cNvPr>
          <p:cNvCxnSpPr/>
          <p:nvPr/>
        </p:nvCxnSpPr>
        <p:spPr>
          <a:xfrm>
            <a:off x="924187" y="1090569"/>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12C76B12-3E4D-4D39-81B5-514E4DA44129}"/>
              </a:ext>
            </a:extLst>
          </p:cNvPr>
          <p:cNvSpPr txBox="1"/>
          <p:nvPr/>
        </p:nvSpPr>
        <p:spPr>
          <a:xfrm>
            <a:off x="924187" y="1543574"/>
            <a:ext cx="5057163" cy="2550698"/>
          </a:xfrm>
          <a:prstGeom prst="rect">
            <a:avLst/>
          </a:prstGeom>
          <a:noFill/>
        </p:spPr>
        <p:txBody>
          <a:bodyPr wrap="square" rtlCol="0">
            <a:spAutoFit/>
          </a:bodyPr>
          <a:lstStyle/>
          <a:p>
            <a:pPr algn="just">
              <a:lnSpc>
                <a:spcPct val="150000"/>
              </a:lnSpc>
            </a:pPr>
            <a:r>
              <a:rPr lang="en-US" dirty="0">
                <a:latin typeface="Lucida Sans Unicode" panose="020B0602030504020204" pitchFamily="34" charset="0"/>
                <a:cs typeface="Lucida Sans Unicode" panose="020B0602030504020204" pitchFamily="34" charset="0"/>
              </a:rPr>
              <a:t>For this project we are going to use LSTM(Long Short Term Memory), these are an extension to the recurrent neural network(RNN) which basically extends their memory.</a:t>
            </a:r>
          </a:p>
          <a:p>
            <a:pPr algn="just">
              <a:lnSpc>
                <a:spcPct val="150000"/>
              </a:lnSpc>
            </a:pPr>
            <a:endParaRPr lang="en-US" dirty="0">
              <a:latin typeface="Lucida Sans Unicode" panose="020B0602030504020204" pitchFamily="34" charset="0"/>
              <a:cs typeface="Lucida Sans Unicode" panose="020B0602030504020204" pitchFamily="34" charset="0"/>
            </a:endParaRPr>
          </a:p>
        </p:txBody>
      </p:sp>
      <p:pic>
        <p:nvPicPr>
          <p:cNvPr id="1026" name="Picture 2">
            <a:extLst>
              <a:ext uri="{FF2B5EF4-FFF2-40B4-BE49-F238E27FC236}">
                <a16:creationId xmlns:a16="http://schemas.microsoft.com/office/drawing/2014/main" id="{6B249A12-8C53-458B-8027-8C28AF27F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293" y="3674220"/>
            <a:ext cx="4088236" cy="19383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501327-0657-4826-9898-837BF25B2280}"/>
              </a:ext>
            </a:extLst>
          </p:cNvPr>
          <p:cNvSpPr txBox="1"/>
          <p:nvPr/>
        </p:nvSpPr>
        <p:spPr>
          <a:xfrm>
            <a:off x="1149292" y="5771625"/>
            <a:ext cx="4331785" cy="584775"/>
          </a:xfrm>
          <a:prstGeom prst="rect">
            <a:avLst/>
          </a:prstGeom>
          <a:noFill/>
        </p:spPr>
        <p:txBody>
          <a:bodyPr wrap="square" rtlCol="0">
            <a:spAutoFit/>
          </a:bodyPr>
          <a:lstStyle/>
          <a:p>
            <a:r>
              <a:rPr lang="en-US" sz="1600" b="1" i="0" dirty="0">
                <a:solidFill>
                  <a:srgbClr val="FFFF00"/>
                </a:solidFill>
                <a:effectLst/>
                <a:latin typeface="Lucida Sans Unicode" panose="020B0602030504020204" pitchFamily="34" charset="0"/>
                <a:cs typeface="Lucida Sans Unicode" panose="020B0602030504020204" pitchFamily="34" charset="0"/>
              </a:rPr>
              <a:t>The repeating module in a standard RNN contains a single layer.</a:t>
            </a:r>
            <a:endParaRPr lang="en-IN" sz="1600" dirty="0">
              <a:solidFill>
                <a:srgbClr val="FFFF00"/>
              </a:solidFill>
              <a:latin typeface="Lucida Sans Unicode" panose="020B0602030504020204" pitchFamily="34" charset="0"/>
              <a:cs typeface="Lucida Sans Unicode" panose="020B0602030504020204" pitchFamily="34" charset="0"/>
            </a:endParaRPr>
          </a:p>
        </p:txBody>
      </p:sp>
      <p:pic>
        <p:nvPicPr>
          <p:cNvPr id="1028" name="Picture 4" descr="A LSTM neural network.">
            <a:extLst>
              <a:ext uri="{FF2B5EF4-FFF2-40B4-BE49-F238E27FC236}">
                <a16:creationId xmlns:a16="http://schemas.microsoft.com/office/drawing/2014/main" id="{E0D939E3-5762-4BBF-99D8-BFAA882F34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235" y="3629184"/>
            <a:ext cx="3784971" cy="18688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E41D9D2-A7C7-4257-A8CC-3738DC1EBD4C}"/>
              </a:ext>
            </a:extLst>
          </p:cNvPr>
          <p:cNvSpPr txBox="1"/>
          <p:nvPr/>
        </p:nvSpPr>
        <p:spPr>
          <a:xfrm>
            <a:off x="6366975" y="5767431"/>
            <a:ext cx="4043493" cy="646331"/>
          </a:xfrm>
          <a:prstGeom prst="rect">
            <a:avLst/>
          </a:prstGeom>
          <a:noFill/>
        </p:spPr>
        <p:txBody>
          <a:bodyPr wrap="square" rtlCol="0">
            <a:spAutoFit/>
          </a:bodyPr>
          <a:lstStyle/>
          <a:p>
            <a:r>
              <a:rPr lang="en-US" b="1" i="0" dirty="0">
                <a:solidFill>
                  <a:srgbClr val="FFFF00"/>
                </a:solidFill>
                <a:effectLst/>
                <a:latin typeface="Lucida Sans Unicode" panose="020B0602030504020204" pitchFamily="34" charset="0"/>
                <a:cs typeface="Lucida Sans Unicode" panose="020B0602030504020204" pitchFamily="34" charset="0"/>
              </a:rPr>
              <a:t>The repeating module in an LSTM contains four interacting layers.</a:t>
            </a:r>
            <a:endParaRPr lang="en-IN" dirty="0">
              <a:solidFill>
                <a:srgbClr val="FFFF00"/>
              </a:solidFill>
              <a:latin typeface="Lucida Sans Unicode" panose="020B0602030504020204" pitchFamily="34" charset="0"/>
              <a:cs typeface="Lucida Sans Unicode" panose="020B0602030504020204" pitchFamily="34" charset="0"/>
            </a:endParaRPr>
          </a:p>
        </p:txBody>
      </p:sp>
      <p:sp>
        <p:nvSpPr>
          <p:cNvPr id="7" name="TextBox 6">
            <a:extLst>
              <a:ext uri="{FF2B5EF4-FFF2-40B4-BE49-F238E27FC236}">
                <a16:creationId xmlns:a16="http://schemas.microsoft.com/office/drawing/2014/main" id="{33DB810E-372B-4FFF-B243-979F371F1D97}"/>
              </a:ext>
            </a:extLst>
          </p:cNvPr>
          <p:cNvSpPr txBox="1"/>
          <p:nvPr/>
        </p:nvSpPr>
        <p:spPr>
          <a:xfrm>
            <a:off x="6210652" y="1551963"/>
            <a:ext cx="4785516" cy="1615827"/>
          </a:xfrm>
          <a:prstGeom prst="rect">
            <a:avLst/>
          </a:prstGeom>
          <a:noFill/>
        </p:spPr>
        <p:txBody>
          <a:bodyPr wrap="square" rtlCol="0">
            <a:spAutoFit/>
          </a:bodyPr>
          <a:lstStyle/>
          <a:p>
            <a:pPr>
              <a:lnSpc>
                <a:spcPct val="150000"/>
              </a:lnSpc>
            </a:pPr>
            <a:r>
              <a:rPr lang="en-US" dirty="0">
                <a:latin typeface="Lucida Sans Unicode" panose="020B0602030504020204" pitchFamily="34" charset="0"/>
                <a:cs typeface="Lucida Sans Unicode" panose="020B0602030504020204" pitchFamily="34" charset="0"/>
              </a:rPr>
              <a:t>Therefore it is well suited to learn from important experiences that have very long time lags in between.</a:t>
            </a:r>
            <a:endParaRPr lang="en-IN" dirty="0">
              <a:latin typeface="Lucida Sans Unicode" panose="020B0602030504020204" pitchFamily="34" charset="0"/>
              <a:cs typeface="Lucida Sans Unicode" panose="020B0602030504020204" pitchFamily="34" charset="0"/>
            </a:endParaRPr>
          </a:p>
          <a:p>
            <a:endParaRPr lang="en-IN" dirty="0"/>
          </a:p>
        </p:txBody>
      </p:sp>
    </p:spTree>
    <p:extLst>
      <p:ext uri="{BB962C8B-B14F-4D97-AF65-F5344CB8AC3E}">
        <p14:creationId xmlns:p14="http://schemas.microsoft.com/office/powerpoint/2010/main" val="2613870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B02364-9967-46E2-AD7C-8FD626E1EF33}"/>
              </a:ext>
            </a:extLst>
          </p:cNvPr>
          <p:cNvSpPr txBox="1">
            <a:spLocks/>
          </p:cNvSpPr>
          <p:nvPr/>
        </p:nvSpPr>
        <p:spPr>
          <a:xfrm>
            <a:off x="789963" y="389837"/>
            <a:ext cx="10058400" cy="683954"/>
          </a:xfrm>
          <a:prstGeom prst="rect">
            <a:avLst/>
          </a:prstGeom>
        </p:spPr>
        <p:txBody>
          <a:bodyPr vert="horz" lIns="91440" tIns="27432" rIns="91440" bIns="45720" rtlCol="0" anchor="b">
            <a:normAutofit/>
          </a:bodyPr>
          <a:lstStyle>
            <a:lvl1pPr algn="l" defTabSz="914400" rtl="0" eaLnBrk="1" latinLnBrk="0" hangingPunct="1">
              <a:lnSpc>
                <a:spcPct val="85000"/>
              </a:lnSpc>
              <a:spcBef>
                <a:spcPct val="0"/>
              </a:spcBef>
              <a:buNone/>
              <a:defRPr sz="7200" b="1" kern="1200" spc="-50" baseline="0">
                <a:solidFill>
                  <a:schemeClr val="tx1"/>
                </a:solidFill>
                <a:latin typeface="+mj-lt"/>
                <a:ea typeface="+mj-ea"/>
                <a:cs typeface="+mj-cs"/>
              </a:defRPr>
            </a:lvl1pPr>
          </a:lstStyle>
          <a:p>
            <a:r>
              <a:rPr lang="en-US" sz="4400" dirty="0">
                <a:solidFill>
                  <a:schemeClr val="tx2"/>
                </a:solidFill>
                <a:latin typeface="Lucida Sans Unicode" panose="020B0602030504020204" pitchFamily="34" charset="0"/>
                <a:cs typeface="Lucida Sans Unicode" panose="020B0602030504020204" pitchFamily="34" charset="0"/>
              </a:rPr>
              <a:t>METHODOLOGY</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10" name="Straight Connector 9">
            <a:extLst>
              <a:ext uri="{FF2B5EF4-FFF2-40B4-BE49-F238E27FC236}">
                <a16:creationId xmlns:a16="http://schemas.microsoft.com/office/drawing/2014/main" id="{EF5CC764-1C25-4DB7-A807-58B756DAD28E}"/>
              </a:ext>
            </a:extLst>
          </p:cNvPr>
          <p:cNvCxnSpPr/>
          <p:nvPr/>
        </p:nvCxnSpPr>
        <p:spPr>
          <a:xfrm>
            <a:off x="924187" y="1090569"/>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graphicFrame>
        <p:nvGraphicFramePr>
          <p:cNvPr id="2" name="Diagram 1">
            <a:extLst>
              <a:ext uri="{FF2B5EF4-FFF2-40B4-BE49-F238E27FC236}">
                <a16:creationId xmlns:a16="http://schemas.microsoft.com/office/drawing/2014/main" id="{A7194518-3E26-4DE0-9059-82D5C646E802}"/>
              </a:ext>
            </a:extLst>
          </p:cNvPr>
          <p:cNvGraphicFramePr/>
          <p:nvPr>
            <p:extLst>
              <p:ext uri="{D42A27DB-BD31-4B8C-83A1-F6EECF244321}">
                <p14:modId xmlns:p14="http://schemas.microsoft.com/office/powerpoint/2010/main" val="3492837564"/>
              </p:ext>
            </p:extLst>
          </p:nvPr>
        </p:nvGraphicFramePr>
        <p:xfrm>
          <a:off x="1743045" y="1191238"/>
          <a:ext cx="8336793" cy="26509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1025071F-E67B-4F30-9694-D3D5919E84FC}"/>
              </a:ext>
            </a:extLst>
          </p:cNvPr>
          <p:cNvSpPr txBox="1"/>
          <p:nvPr/>
        </p:nvSpPr>
        <p:spPr>
          <a:xfrm>
            <a:off x="770388" y="3942823"/>
            <a:ext cx="5048775" cy="2339102"/>
          </a:xfrm>
          <a:prstGeom prst="rect">
            <a:avLst/>
          </a:prstGeom>
          <a:noFill/>
        </p:spPr>
        <p:txBody>
          <a:bodyPr wrap="square" rtlCol="0">
            <a:spAutoFit/>
          </a:bodyPr>
          <a:lstStyle/>
          <a:p>
            <a:r>
              <a:rPr lang="en-US" sz="2000" b="1" i="1" u="sng" dirty="0">
                <a:latin typeface="Lucida Sans Unicode" panose="020B0602030504020204" pitchFamily="34" charset="0"/>
                <a:cs typeface="Lucida Sans Unicode" panose="020B0602030504020204" pitchFamily="34" charset="0"/>
              </a:rPr>
              <a:t>Featuring scaling</a:t>
            </a:r>
          </a:p>
          <a:p>
            <a:endParaRPr lang="en-US" dirty="0">
              <a:latin typeface="Lucida Sans Unicode" panose="020B0602030504020204" pitchFamily="34" charset="0"/>
              <a:cs typeface="Lucida Sans Unicode" panose="020B0602030504020204" pitchFamily="34" charset="0"/>
            </a:endParaRPr>
          </a:p>
          <a:p>
            <a:pPr algn="just"/>
            <a:r>
              <a:rPr lang="en-US" dirty="0">
                <a:latin typeface="Lucida Sans Unicode" panose="020B0602030504020204" pitchFamily="34" charset="0"/>
                <a:cs typeface="Lucida Sans Unicode" panose="020B0602030504020204" pitchFamily="34" charset="0"/>
              </a:rPr>
              <a:t>Feature scaling is a method used to standardize the range of independent variables or features of data. In data preprocessing, it is also known as data normalization and is generally performed during the data preprocessing step.</a:t>
            </a:r>
            <a:endParaRPr lang="en-IN" dirty="0">
              <a:latin typeface="Lucida Sans Unicode" panose="020B0602030504020204" pitchFamily="34" charset="0"/>
              <a:cs typeface="Lucida Sans Unicode" panose="020B0602030504020204" pitchFamily="34" charset="0"/>
            </a:endParaRPr>
          </a:p>
        </p:txBody>
      </p:sp>
      <p:sp>
        <p:nvSpPr>
          <p:cNvPr id="8" name="TextBox 7">
            <a:extLst>
              <a:ext uri="{FF2B5EF4-FFF2-40B4-BE49-F238E27FC236}">
                <a16:creationId xmlns:a16="http://schemas.microsoft.com/office/drawing/2014/main" id="{B9C62299-B7D5-4463-92EB-170FDE2D790A}"/>
              </a:ext>
            </a:extLst>
          </p:cNvPr>
          <p:cNvSpPr txBox="1"/>
          <p:nvPr/>
        </p:nvSpPr>
        <p:spPr>
          <a:xfrm>
            <a:off x="6014906" y="3942823"/>
            <a:ext cx="5285065" cy="2369880"/>
          </a:xfrm>
          <a:prstGeom prst="rect">
            <a:avLst/>
          </a:prstGeom>
          <a:noFill/>
        </p:spPr>
        <p:txBody>
          <a:bodyPr wrap="square" rtlCol="0">
            <a:spAutoFit/>
          </a:bodyPr>
          <a:lstStyle/>
          <a:p>
            <a:r>
              <a:rPr lang="en-US" sz="2000" b="1" i="1" u="sng" dirty="0">
                <a:latin typeface="Lucida Sans Unicode" panose="020B0602030504020204" pitchFamily="34" charset="0"/>
                <a:cs typeface="Lucida Sans Unicode" panose="020B0602030504020204" pitchFamily="34" charset="0"/>
              </a:rPr>
              <a:t>LSTM training and evolution</a:t>
            </a:r>
          </a:p>
          <a:p>
            <a:endParaRPr lang="en-US" sz="2000" dirty="0">
              <a:latin typeface="Lucida Sans Unicode" panose="020B0602030504020204" pitchFamily="34" charset="0"/>
              <a:cs typeface="Lucida Sans Unicode" panose="020B0602030504020204" pitchFamily="34" charset="0"/>
            </a:endParaRPr>
          </a:p>
          <a:p>
            <a:pPr algn="just"/>
            <a:r>
              <a:rPr lang="en-US" dirty="0">
                <a:latin typeface="Lucida Sans Unicode" panose="020B0602030504020204" pitchFamily="34" charset="0"/>
                <a:cs typeface="Lucida Sans Unicode" panose="020B0602030504020204" pitchFamily="34" charset="0"/>
              </a:rPr>
              <a:t>LSTM’s enable RNN’s to remember their inputs over a long period of time. This is because LSTM’s contain their information in a memory, that is much like the memory of a computer because the LSTM can read, write and delete information from its memory.</a:t>
            </a:r>
            <a:endParaRPr lang="en-IN"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4014609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B02364-9967-46E2-AD7C-8FD626E1EF33}"/>
              </a:ext>
            </a:extLst>
          </p:cNvPr>
          <p:cNvSpPr txBox="1">
            <a:spLocks/>
          </p:cNvSpPr>
          <p:nvPr/>
        </p:nvSpPr>
        <p:spPr>
          <a:xfrm>
            <a:off x="789963" y="389837"/>
            <a:ext cx="10058400" cy="683954"/>
          </a:xfrm>
          <a:prstGeom prst="rect">
            <a:avLst/>
          </a:prstGeom>
        </p:spPr>
        <p:txBody>
          <a:bodyPr vert="horz" lIns="91440" tIns="27432" rIns="91440" bIns="45720" rtlCol="0" anchor="b">
            <a:normAutofit/>
          </a:bodyPr>
          <a:lstStyle>
            <a:lvl1pPr algn="l" defTabSz="914400" rtl="0" eaLnBrk="1" latinLnBrk="0" hangingPunct="1">
              <a:lnSpc>
                <a:spcPct val="85000"/>
              </a:lnSpc>
              <a:spcBef>
                <a:spcPct val="0"/>
              </a:spcBef>
              <a:buNone/>
              <a:defRPr sz="7200" b="1" kern="1200" spc="-50" baseline="0">
                <a:solidFill>
                  <a:schemeClr val="tx1"/>
                </a:solidFill>
                <a:latin typeface="+mj-lt"/>
                <a:ea typeface="+mj-ea"/>
                <a:cs typeface="+mj-cs"/>
              </a:defRPr>
            </a:lvl1pPr>
          </a:lstStyle>
          <a:p>
            <a:r>
              <a:rPr lang="en-US" sz="4400" dirty="0">
                <a:solidFill>
                  <a:schemeClr val="tx2"/>
                </a:solidFill>
                <a:latin typeface="Lucida Sans Unicode" panose="020B0602030504020204" pitchFamily="34" charset="0"/>
                <a:cs typeface="Lucida Sans Unicode" panose="020B0602030504020204" pitchFamily="34" charset="0"/>
              </a:rPr>
              <a:t>METHODOLOGY</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10" name="Straight Connector 9">
            <a:extLst>
              <a:ext uri="{FF2B5EF4-FFF2-40B4-BE49-F238E27FC236}">
                <a16:creationId xmlns:a16="http://schemas.microsoft.com/office/drawing/2014/main" id="{EF5CC764-1C25-4DB7-A807-58B756DAD28E}"/>
              </a:ext>
            </a:extLst>
          </p:cNvPr>
          <p:cNvCxnSpPr/>
          <p:nvPr/>
        </p:nvCxnSpPr>
        <p:spPr>
          <a:xfrm>
            <a:off x="924187" y="1090569"/>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C0DEA09E-3E15-44B4-9DED-2B49FAF89711}"/>
              </a:ext>
            </a:extLst>
          </p:cNvPr>
          <p:cNvSpPr txBox="1"/>
          <p:nvPr/>
        </p:nvSpPr>
        <p:spPr>
          <a:xfrm>
            <a:off x="789963" y="1610686"/>
            <a:ext cx="5171813" cy="3289362"/>
          </a:xfrm>
          <a:prstGeom prst="rect">
            <a:avLst/>
          </a:prstGeom>
          <a:noFill/>
        </p:spPr>
        <p:txBody>
          <a:bodyPr wrap="square" rtlCol="0">
            <a:spAutoFit/>
          </a:bodyPr>
          <a:lstStyle/>
          <a:p>
            <a:r>
              <a:rPr lang="en-US" sz="2400" i="1" u="sng" dirty="0">
                <a:solidFill>
                  <a:srgbClr val="FFC000"/>
                </a:solidFill>
                <a:latin typeface="Lucida Sans Unicode" panose="020B0602030504020204" pitchFamily="34" charset="0"/>
                <a:cs typeface="Lucida Sans Unicode" panose="020B0602030504020204" pitchFamily="34" charset="0"/>
              </a:rPr>
              <a:t>Visualizing Predictions</a:t>
            </a:r>
          </a:p>
          <a:p>
            <a:endParaRPr lang="en-US" sz="2400" i="1" u="sng" dirty="0">
              <a:solidFill>
                <a:srgbClr val="FFC000"/>
              </a:solidFill>
              <a:latin typeface="Lucida Sans Unicode" panose="020B0602030504020204" pitchFamily="34" charset="0"/>
              <a:cs typeface="Lucida Sans Unicode" panose="020B0602030504020204" pitchFamily="34" charset="0"/>
            </a:endParaRPr>
          </a:p>
          <a:p>
            <a:pPr algn="just">
              <a:lnSpc>
                <a:spcPct val="150000"/>
              </a:lnSpc>
            </a:pPr>
            <a:r>
              <a:rPr lang="en-IN" dirty="0">
                <a:latin typeface="Lucida Sans Unicode" panose="020B0602030504020204" pitchFamily="34" charset="0"/>
                <a:cs typeface="Lucida Sans Unicode" panose="020B0602030504020204" pitchFamily="34" charset="0"/>
              </a:rPr>
              <a:t>The predicted stock prices will be visualised on a graph built using Dash and will be compared to the actual stock prices on the same graph itself.</a:t>
            </a:r>
          </a:p>
          <a:p>
            <a:pPr algn="just">
              <a:lnSpc>
                <a:spcPct val="150000"/>
              </a:lnSpc>
            </a:pPr>
            <a:r>
              <a:rPr lang="en-US" dirty="0">
                <a:latin typeface="Lucida Sans Unicode" panose="020B0602030504020204" pitchFamily="34" charset="0"/>
                <a:cs typeface="Lucida Sans Unicode" panose="020B0602030504020204" pitchFamily="34" charset="0"/>
              </a:rPr>
              <a:t>Accuracy will be presented based on prediction and existing data.</a:t>
            </a:r>
            <a:endParaRPr lang="en-IN" dirty="0">
              <a:latin typeface="Lucida Sans Unicode" panose="020B0602030504020204" pitchFamily="34" charset="0"/>
              <a:cs typeface="Lucida Sans Unicode" panose="020B0602030504020204" pitchFamily="34" charset="0"/>
            </a:endParaRPr>
          </a:p>
        </p:txBody>
      </p:sp>
      <p:pic>
        <p:nvPicPr>
          <p:cNvPr id="5" name="Picture 4">
            <a:extLst>
              <a:ext uri="{FF2B5EF4-FFF2-40B4-BE49-F238E27FC236}">
                <a16:creationId xmlns:a16="http://schemas.microsoft.com/office/drawing/2014/main" id="{50D67C80-0915-495F-B438-73D2B3EDEEC4}"/>
              </a:ext>
            </a:extLst>
          </p:cNvPr>
          <p:cNvPicPr>
            <a:picLocks noChangeAspect="1"/>
          </p:cNvPicPr>
          <p:nvPr/>
        </p:nvPicPr>
        <p:blipFill>
          <a:blip r:embed="rId2"/>
          <a:stretch>
            <a:fillRect/>
          </a:stretch>
        </p:blipFill>
        <p:spPr>
          <a:xfrm>
            <a:off x="6302075" y="1610685"/>
            <a:ext cx="4546288" cy="3289349"/>
          </a:xfrm>
          <a:prstGeom prst="rect">
            <a:avLst/>
          </a:prstGeom>
        </p:spPr>
      </p:pic>
    </p:spTree>
    <p:extLst>
      <p:ext uri="{BB962C8B-B14F-4D97-AF65-F5344CB8AC3E}">
        <p14:creationId xmlns:p14="http://schemas.microsoft.com/office/powerpoint/2010/main" val="3416902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B02364-9967-46E2-AD7C-8FD626E1EF33}"/>
              </a:ext>
            </a:extLst>
          </p:cNvPr>
          <p:cNvSpPr txBox="1">
            <a:spLocks/>
          </p:cNvSpPr>
          <p:nvPr/>
        </p:nvSpPr>
        <p:spPr>
          <a:xfrm>
            <a:off x="789963" y="389837"/>
            <a:ext cx="10058400" cy="683954"/>
          </a:xfrm>
          <a:prstGeom prst="rect">
            <a:avLst/>
          </a:prstGeom>
        </p:spPr>
        <p:txBody>
          <a:bodyPr vert="horz" lIns="91440" tIns="27432" rIns="91440" bIns="45720" rtlCol="0" anchor="b">
            <a:normAutofit/>
          </a:bodyPr>
          <a:lstStyle>
            <a:lvl1pPr algn="l" defTabSz="914400" rtl="0" eaLnBrk="1" latinLnBrk="0" hangingPunct="1">
              <a:lnSpc>
                <a:spcPct val="85000"/>
              </a:lnSpc>
              <a:spcBef>
                <a:spcPct val="0"/>
              </a:spcBef>
              <a:buNone/>
              <a:defRPr sz="7200" b="1" kern="1200" spc="-50" baseline="0">
                <a:solidFill>
                  <a:schemeClr val="tx1"/>
                </a:solidFill>
                <a:latin typeface="+mj-lt"/>
                <a:ea typeface="+mj-ea"/>
                <a:cs typeface="+mj-cs"/>
              </a:defRPr>
            </a:lvl1pPr>
          </a:lstStyle>
          <a:p>
            <a:r>
              <a:rPr lang="en-US" sz="4400" dirty="0">
                <a:solidFill>
                  <a:schemeClr val="tx2"/>
                </a:solidFill>
                <a:latin typeface="Lucida Sans Unicode" panose="020B0602030504020204" pitchFamily="34" charset="0"/>
                <a:cs typeface="Lucida Sans Unicode" panose="020B0602030504020204" pitchFamily="34" charset="0"/>
              </a:rPr>
              <a:t>SYSTEM REQUIREMENTS</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10" name="Straight Connector 9">
            <a:extLst>
              <a:ext uri="{FF2B5EF4-FFF2-40B4-BE49-F238E27FC236}">
                <a16:creationId xmlns:a16="http://schemas.microsoft.com/office/drawing/2014/main" id="{EF5CC764-1C25-4DB7-A807-58B756DAD28E}"/>
              </a:ext>
            </a:extLst>
          </p:cNvPr>
          <p:cNvCxnSpPr/>
          <p:nvPr/>
        </p:nvCxnSpPr>
        <p:spPr>
          <a:xfrm>
            <a:off x="924187" y="1090569"/>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231B1D5A-CEF7-4249-A9D2-F479F77D42E2}"/>
              </a:ext>
            </a:extLst>
          </p:cNvPr>
          <p:cNvSpPr txBox="1"/>
          <p:nvPr/>
        </p:nvSpPr>
        <p:spPr>
          <a:xfrm>
            <a:off x="949354" y="1610686"/>
            <a:ext cx="4839050" cy="3197029"/>
          </a:xfrm>
          <a:prstGeom prst="rect">
            <a:avLst/>
          </a:prstGeom>
          <a:noFill/>
        </p:spPr>
        <p:txBody>
          <a:bodyPr wrap="square" rtlCol="0">
            <a:spAutoFit/>
          </a:bodyPr>
          <a:lstStyle/>
          <a:p>
            <a:r>
              <a:rPr lang="en-US" sz="2400" i="1" u="sng" dirty="0">
                <a:latin typeface="Lucida Sans Unicode" panose="020B0602030504020204" pitchFamily="34" charset="0"/>
                <a:cs typeface="Lucida Sans Unicode" panose="020B0602030504020204" pitchFamily="34" charset="0"/>
              </a:rPr>
              <a:t>Software Requirements</a:t>
            </a:r>
          </a:p>
          <a:p>
            <a:endParaRPr lang="en-US" dirty="0">
              <a:latin typeface="Lucida Sans Unicode" panose="020B0602030504020204" pitchFamily="34" charset="0"/>
              <a:cs typeface="Lucida Sans Unicode" panose="020B0602030504020204" pitchFamily="34" charset="0"/>
            </a:endParaRPr>
          </a:p>
          <a:p>
            <a:pPr marL="285750" indent="-285750">
              <a:lnSpc>
                <a:spcPct val="150000"/>
              </a:lnSpc>
              <a:buFont typeface="Arial" panose="020B0604020202020204" pitchFamily="34" charset="0"/>
              <a:buChar char="•"/>
            </a:pPr>
            <a:r>
              <a:rPr lang="en-US" dirty="0">
                <a:latin typeface="Lucida Sans Unicode" panose="020B0602030504020204" pitchFamily="34" charset="0"/>
                <a:cs typeface="Lucida Sans Unicode" panose="020B0602030504020204" pitchFamily="34" charset="0"/>
              </a:rPr>
              <a:t>Python 3.6 with machine learning libraries (e.g. scikit-learn, </a:t>
            </a:r>
            <a:r>
              <a:rPr lang="en-US" dirty="0" err="1">
                <a:latin typeface="Lucida Sans Unicode" panose="020B0602030504020204" pitchFamily="34" charset="0"/>
                <a:cs typeface="Lucida Sans Unicode" panose="020B0602030504020204" pitchFamily="34" charset="0"/>
              </a:rPr>
              <a:t>Keras</a:t>
            </a:r>
            <a:r>
              <a:rPr lang="en-US" dirty="0">
                <a:latin typeface="Lucida Sans Unicode" panose="020B0602030504020204" pitchFamily="34" charset="0"/>
                <a:cs typeface="Lucida Sans Unicode" panose="020B0602030504020204" pitchFamily="34" charset="0"/>
              </a:rPr>
              <a:t>, </a:t>
            </a:r>
            <a:r>
              <a:rPr lang="en-US" dirty="0" err="1">
                <a:latin typeface="Lucida Sans Unicode" panose="020B0602030504020204" pitchFamily="34" charset="0"/>
                <a:cs typeface="Lucida Sans Unicode" panose="020B0602030504020204" pitchFamily="34" charset="0"/>
              </a:rPr>
              <a:t>Tensorflow</a:t>
            </a:r>
            <a:r>
              <a:rPr lang="en-US" dirty="0">
                <a:latin typeface="Lucida Sans Unicode" panose="020B0602030504020204" pitchFamily="34" charset="0"/>
                <a:cs typeface="Lucida Sans Unicode" panose="020B0602030504020204" pitchFamily="34" charset="0"/>
              </a:rPr>
              <a:t>)</a:t>
            </a:r>
          </a:p>
          <a:p>
            <a:pPr marL="285750" indent="-285750">
              <a:lnSpc>
                <a:spcPct val="150000"/>
              </a:lnSpc>
              <a:buFont typeface="Arial" panose="020B0604020202020204" pitchFamily="34" charset="0"/>
              <a:buChar char="•"/>
            </a:pPr>
            <a:r>
              <a:rPr lang="en-IN" dirty="0">
                <a:latin typeface="Lucida Sans Unicode" panose="020B0602030504020204" pitchFamily="34" charset="0"/>
                <a:cs typeface="Lucida Sans Unicode" panose="020B0602030504020204" pitchFamily="34" charset="0"/>
              </a:rPr>
              <a:t>Visual Studio Code / Sublime Text for programming</a:t>
            </a:r>
            <a:endParaRPr lang="en-US" dirty="0">
              <a:latin typeface="Lucida Sans Unicode" panose="020B0602030504020204" pitchFamily="34" charset="0"/>
              <a:cs typeface="Lucida Sans Unicode" panose="020B0602030504020204" pitchFamily="34" charset="0"/>
            </a:endParaRPr>
          </a:p>
          <a:p>
            <a:pPr marL="285750" indent="-285750">
              <a:lnSpc>
                <a:spcPct val="150000"/>
              </a:lnSpc>
              <a:buFont typeface="Arial" panose="020B0604020202020204" pitchFamily="34" charset="0"/>
              <a:buChar char="•"/>
            </a:pPr>
            <a:r>
              <a:rPr lang="en-US" dirty="0">
                <a:latin typeface="Lucida Sans Unicode" panose="020B0602030504020204" pitchFamily="34" charset="0"/>
                <a:cs typeface="Lucida Sans Unicode" panose="020B0602030504020204" pitchFamily="34" charset="0"/>
              </a:rPr>
              <a:t>Anaconda for data </a:t>
            </a:r>
            <a:r>
              <a:rPr lang="en-US" dirty="0" err="1">
                <a:latin typeface="Lucida Sans Unicode" panose="020B0602030504020204" pitchFamily="34" charset="0"/>
                <a:cs typeface="Lucida Sans Unicode" panose="020B0602030504020204" pitchFamily="34" charset="0"/>
              </a:rPr>
              <a:t>visualizaiton</a:t>
            </a:r>
            <a:endParaRPr lang="en-IN" dirty="0">
              <a:latin typeface="Lucida Sans Unicode" panose="020B0602030504020204" pitchFamily="34" charset="0"/>
              <a:cs typeface="Lucida Sans Unicode" panose="020B0602030504020204" pitchFamily="34" charset="0"/>
            </a:endParaRPr>
          </a:p>
        </p:txBody>
      </p:sp>
      <p:sp>
        <p:nvSpPr>
          <p:cNvPr id="4" name="TextBox 3">
            <a:extLst>
              <a:ext uri="{FF2B5EF4-FFF2-40B4-BE49-F238E27FC236}">
                <a16:creationId xmlns:a16="http://schemas.microsoft.com/office/drawing/2014/main" id="{3DFDC5BE-9F57-4567-B1CF-B072BAFA6443}"/>
              </a:ext>
            </a:extLst>
          </p:cNvPr>
          <p:cNvSpPr txBox="1"/>
          <p:nvPr/>
        </p:nvSpPr>
        <p:spPr>
          <a:xfrm>
            <a:off x="6895751" y="1610686"/>
            <a:ext cx="3858936" cy="3093154"/>
          </a:xfrm>
          <a:prstGeom prst="rect">
            <a:avLst/>
          </a:prstGeom>
          <a:noFill/>
        </p:spPr>
        <p:txBody>
          <a:bodyPr wrap="square" rtlCol="0">
            <a:spAutoFit/>
          </a:bodyPr>
          <a:lstStyle/>
          <a:p>
            <a:r>
              <a:rPr lang="en-US" sz="2400" i="1" u="sng" dirty="0">
                <a:latin typeface="Lucida Sans Unicode" panose="020B0602030504020204" pitchFamily="34" charset="0"/>
                <a:cs typeface="Lucida Sans Unicode" panose="020B0602030504020204" pitchFamily="34" charset="0"/>
              </a:rPr>
              <a:t>Hardware Requirements</a:t>
            </a:r>
          </a:p>
          <a:p>
            <a:endParaRPr lang="en-US" i="1" u="sng" dirty="0">
              <a:latin typeface="Lucida Sans Unicode" panose="020B0602030504020204" pitchFamily="34" charset="0"/>
              <a:cs typeface="Lucida Sans Unicode" panose="020B0602030504020204" pitchFamily="34" charset="0"/>
            </a:endParaRPr>
          </a:p>
          <a:p>
            <a:pPr marL="342900" indent="-342900">
              <a:lnSpc>
                <a:spcPct val="150000"/>
              </a:lnSpc>
              <a:buFont typeface="Arial" panose="020B0604020202020204" pitchFamily="34" charset="0"/>
              <a:buChar char="•"/>
            </a:pPr>
            <a:r>
              <a:rPr lang="en-US" dirty="0">
                <a:latin typeface="Lucida Sans Unicode" panose="020B0602030504020204" pitchFamily="34" charset="0"/>
                <a:cs typeface="Lucida Sans Unicode" panose="020B0602030504020204" pitchFamily="34" charset="0"/>
              </a:rPr>
              <a:t>Windows / Linux / MAC laptop/desktop.</a:t>
            </a:r>
          </a:p>
          <a:p>
            <a:pPr marL="342900" indent="-342900">
              <a:lnSpc>
                <a:spcPct val="150000"/>
              </a:lnSpc>
              <a:buFont typeface="Arial" panose="020B0604020202020204" pitchFamily="34" charset="0"/>
              <a:buChar char="•"/>
            </a:pPr>
            <a:r>
              <a:rPr lang="en-US" dirty="0">
                <a:latin typeface="Lucida Sans Unicode" panose="020B0602030504020204" pitchFamily="34" charset="0"/>
                <a:cs typeface="Lucida Sans Unicode" panose="020B0602030504020204" pitchFamily="34" charset="0"/>
              </a:rPr>
              <a:t>Graphics Processing Unit at least GeForce GTX 960M with CUDA enabled.</a:t>
            </a:r>
          </a:p>
          <a:p>
            <a:pPr marL="342900" indent="-342900">
              <a:buFont typeface="Arial" panose="020B0604020202020204" pitchFamily="34" charset="0"/>
              <a:buChar char="•"/>
            </a:pPr>
            <a:endParaRPr lang="en-IN"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831932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B02364-9967-46E2-AD7C-8FD626E1EF33}"/>
              </a:ext>
            </a:extLst>
          </p:cNvPr>
          <p:cNvSpPr txBox="1">
            <a:spLocks/>
          </p:cNvSpPr>
          <p:nvPr/>
        </p:nvSpPr>
        <p:spPr>
          <a:xfrm>
            <a:off x="789963" y="389837"/>
            <a:ext cx="10058400" cy="683954"/>
          </a:xfrm>
          <a:prstGeom prst="rect">
            <a:avLst/>
          </a:prstGeom>
        </p:spPr>
        <p:txBody>
          <a:bodyPr vert="horz" lIns="91440" tIns="27432" rIns="91440" bIns="45720" rtlCol="0" anchor="b">
            <a:normAutofit/>
          </a:bodyPr>
          <a:lstStyle>
            <a:lvl1pPr algn="l" defTabSz="914400" rtl="0" eaLnBrk="1" latinLnBrk="0" hangingPunct="1">
              <a:lnSpc>
                <a:spcPct val="85000"/>
              </a:lnSpc>
              <a:spcBef>
                <a:spcPct val="0"/>
              </a:spcBef>
              <a:buNone/>
              <a:defRPr sz="7200" b="1" kern="1200" spc="-50" baseline="0">
                <a:solidFill>
                  <a:schemeClr val="tx1"/>
                </a:solidFill>
                <a:latin typeface="+mj-lt"/>
                <a:ea typeface="+mj-ea"/>
                <a:cs typeface="+mj-cs"/>
              </a:defRPr>
            </a:lvl1pPr>
          </a:lstStyle>
          <a:p>
            <a:r>
              <a:rPr lang="en-US" sz="4400" dirty="0">
                <a:solidFill>
                  <a:schemeClr val="tx2"/>
                </a:solidFill>
                <a:latin typeface="Lucida Sans Unicode" panose="020B0602030504020204" pitchFamily="34" charset="0"/>
                <a:cs typeface="Lucida Sans Unicode" panose="020B0602030504020204" pitchFamily="34" charset="0"/>
              </a:rPr>
              <a:t>REFERENCES</a:t>
            </a:r>
            <a:endParaRPr lang="en-IN" sz="4400" dirty="0">
              <a:solidFill>
                <a:schemeClr val="tx2"/>
              </a:solidFill>
              <a:latin typeface="Lucida Sans Unicode" panose="020B0602030504020204" pitchFamily="34" charset="0"/>
              <a:cs typeface="Lucida Sans Unicode" panose="020B0602030504020204" pitchFamily="34" charset="0"/>
            </a:endParaRPr>
          </a:p>
        </p:txBody>
      </p:sp>
      <p:cxnSp>
        <p:nvCxnSpPr>
          <p:cNvPr id="10" name="Straight Connector 9">
            <a:extLst>
              <a:ext uri="{FF2B5EF4-FFF2-40B4-BE49-F238E27FC236}">
                <a16:creationId xmlns:a16="http://schemas.microsoft.com/office/drawing/2014/main" id="{EF5CC764-1C25-4DB7-A807-58B756DAD28E}"/>
              </a:ext>
            </a:extLst>
          </p:cNvPr>
          <p:cNvCxnSpPr/>
          <p:nvPr/>
        </p:nvCxnSpPr>
        <p:spPr>
          <a:xfrm>
            <a:off x="924187" y="1090569"/>
            <a:ext cx="9924176" cy="0"/>
          </a:xfrm>
          <a:prstGeom prst="line">
            <a:avLst/>
          </a:prstGeom>
          <a:ln>
            <a:solidFill>
              <a:srgbClr val="FFFF00"/>
            </a:solidFill>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099CB6C9-7D7A-4604-995D-F86A7F29992D}"/>
              </a:ext>
            </a:extLst>
          </p:cNvPr>
          <p:cNvSpPr txBox="1"/>
          <p:nvPr/>
        </p:nvSpPr>
        <p:spPr>
          <a:xfrm>
            <a:off x="592821" y="1571119"/>
            <a:ext cx="10586907" cy="4278094"/>
          </a:xfrm>
          <a:prstGeom prst="rect">
            <a:avLst/>
          </a:prstGeom>
          <a:noFill/>
        </p:spPr>
        <p:txBody>
          <a:bodyPr wrap="square">
            <a:spAutoFit/>
          </a:bodyPr>
          <a:lstStyle/>
          <a:p>
            <a:pPr marL="342900" indent="-342900" algn="just">
              <a:buAutoNum type="arabicPeriod"/>
            </a:pPr>
            <a:r>
              <a:rPr lang="en-IN" sz="1600" dirty="0" err="1">
                <a:latin typeface="Lucida Sans Unicode" panose="020B0602030504020204" pitchFamily="34" charset="0"/>
                <a:cs typeface="Lucida Sans Unicode" panose="020B0602030504020204" pitchFamily="34" charset="0"/>
              </a:rPr>
              <a:t>Nazar</a:t>
            </a:r>
            <a:r>
              <a:rPr lang="en-IN" sz="1600" dirty="0">
                <a:latin typeface="Lucida Sans Unicode" panose="020B0602030504020204" pitchFamily="34" charset="0"/>
                <a:cs typeface="Lucida Sans Unicode" panose="020B0602030504020204" pitchFamily="34" charset="0"/>
              </a:rPr>
              <a:t>, Nasrin Banu, and Radha </a:t>
            </a:r>
            <a:r>
              <a:rPr lang="en-IN" sz="1600" dirty="0" err="1">
                <a:latin typeface="Lucida Sans Unicode" panose="020B0602030504020204" pitchFamily="34" charset="0"/>
                <a:cs typeface="Lucida Sans Unicode" panose="020B0602030504020204" pitchFamily="34" charset="0"/>
              </a:rPr>
              <a:t>Senthilkumar</a:t>
            </a:r>
            <a:r>
              <a:rPr lang="en-IN" sz="1600" dirty="0">
                <a:latin typeface="Lucida Sans Unicode" panose="020B0602030504020204" pitchFamily="34" charset="0"/>
                <a:cs typeface="Lucida Sans Unicode" panose="020B0602030504020204" pitchFamily="34" charset="0"/>
              </a:rPr>
              <a:t>. “An online approach for feature selection for classification in big data.” Turkish Journal of Electrical Engineering &amp; Computer Sciences. </a:t>
            </a:r>
          </a:p>
          <a:p>
            <a:pPr algn="just"/>
            <a:endParaRPr lang="en-IN" sz="1600" dirty="0">
              <a:latin typeface="Lucida Sans Unicode" panose="020B0602030504020204" pitchFamily="34" charset="0"/>
              <a:cs typeface="Lucida Sans Unicode" panose="020B0602030504020204" pitchFamily="34" charset="0"/>
            </a:endParaRPr>
          </a:p>
          <a:p>
            <a:pPr algn="just"/>
            <a:r>
              <a:rPr lang="en-US" sz="1600" dirty="0">
                <a:latin typeface="Lucida Sans Unicode" panose="020B0602030504020204" pitchFamily="34" charset="0"/>
                <a:cs typeface="Lucida Sans Unicode" panose="020B0602030504020204" pitchFamily="34" charset="0"/>
              </a:rPr>
              <a:t>2. “Machine Learning in Stock Price Trend Forecasting” written by Y. Dai and Y. Zhang in Stanford University.</a:t>
            </a:r>
          </a:p>
          <a:p>
            <a:pPr algn="just"/>
            <a:endParaRPr lang="en-IN" sz="1600" dirty="0">
              <a:latin typeface="Lucida Sans Unicode" panose="020B0602030504020204" pitchFamily="34" charset="0"/>
              <a:cs typeface="Lucida Sans Unicode" panose="020B0602030504020204" pitchFamily="34" charset="0"/>
            </a:endParaRPr>
          </a:p>
          <a:p>
            <a:pPr algn="just"/>
            <a:r>
              <a:rPr lang="en-IN" sz="1600" dirty="0">
                <a:latin typeface="Lucida Sans Unicode" panose="020B0602030504020204" pitchFamily="34" charset="0"/>
                <a:cs typeface="Lucida Sans Unicode" panose="020B0602030504020204" pitchFamily="34" charset="0"/>
              </a:rPr>
              <a:t>3. Suresh, Harini, et al. “Clinical Intervention Prediction and Understanding using Networks.” </a:t>
            </a:r>
            <a:r>
              <a:rPr lang="en-IN" sz="1600" dirty="0" err="1">
                <a:latin typeface="Lucida Sans Unicode" panose="020B0602030504020204" pitchFamily="34" charset="0"/>
                <a:cs typeface="Lucida Sans Unicode" panose="020B0602030504020204" pitchFamily="34" charset="0"/>
              </a:rPr>
              <a:t>arXiv</a:t>
            </a:r>
            <a:r>
              <a:rPr lang="en-IN" sz="1600" dirty="0">
                <a:latin typeface="Lucida Sans Unicode" panose="020B0602030504020204" pitchFamily="34" charset="0"/>
                <a:cs typeface="Lucida Sans Unicode" panose="020B0602030504020204" pitchFamily="34" charset="0"/>
              </a:rPr>
              <a:t> preprint arXiv:1705.08498 (2017).</a:t>
            </a:r>
          </a:p>
          <a:p>
            <a:pPr algn="just"/>
            <a:endParaRPr lang="en-IN" sz="1600" dirty="0">
              <a:latin typeface="Lucida Sans Unicode" panose="020B0602030504020204" pitchFamily="34" charset="0"/>
              <a:cs typeface="Lucida Sans Unicode" panose="020B0602030504020204" pitchFamily="34" charset="0"/>
            </a:endParaRPr>
          </a:p>
          <a:p>
            <a:pPr algn="just"/>
            <a:r>
              <a:rPr lang="en-IN" sz="1600" dirty="0">
                <a:latin typeface="Lucida Sans Unicode" panose="020B0602030504020204" pitchFamily="34" charset="0"/>
                <a:cs typeface="Lucida Sans Unicode" panose="020B0602030504020204" pitchFamily="34" charset="0"/>
              </a:rPr>
              <a:t>4. </a:t>
            </a:r>
            <a:r>
              <a:rPr lang="en-IN" sz="1600" dirty="0" err="1">
                <a:latin typeface="Lucida Sans Unicode" panose="020B0602030504020204" pitchFamily="34" charset="0"/>
                <a:cs typeface="Lucida Sans Unicode" panose="020B0602030504020204" pitchFamily="34" charset="0"/>
              </a:rPr>
              <a:t>Pascanu</a:t>
            </a:r>
            <a:r>
              <a:rPr lang="en-IN" sz="1600" dirty="0">
                <a:latin typeface="Lucida Sans Unicode" panose="020B0602030504020204" pitchFamily="34" charset="0"/>
                <a:cs typeface="Lucida Sans Unicode" panose="020B0602030504020204" pitchFamily="34" charset="0"/>
              </a:rPr>
              <a:t>, Razvan, Tomas </a:t>
            </a:r>
            <a:r>
              <a:rPr lang="en-IN" sz="1600" dirty="0" err="1">
                <a:latin typeface="Lucida Sans Unicode" panose="020B0602030504020204" pitchFamily="34" charset="0"/>
                <a:cs typeface="Lucida Sans Unicode" panose="020B0602030504020204" pitchFamily="34" charset="0"/>
              </a:rPr>
              <a:t>Mikolov</a:t>
            </a:r>
            <a:r>
              <a:rPr lang="en-IN" sz="1600" dirty="0">
                <a:latin typeface="Lucida Sans Unicode" panose="020B0602030504020204" pitchFamily="34" charset="0"/>
                <a:cs typeface="Lucida Sans Unicode" panose="020B0602030504020204" pitchFamily="34" charset="0"/>
              </a:rPr>
              <a:t>, and </a:t>
            </a:r>
            <a:r>
              <a:rPr lang="en-IN" sz="1600" dirty="0" err="1">
                <a:latin typeface="Lucida Sans Unicode" panose="020B0602030504020204" pitchFamily="34" charset="0"/>
                <a:cs typeface="Lucida Sans Unicode" panose="020B0602030504020204" pitchFamily="34" charset="0"/>
              </a:rPr>
              <a:t>Yoshua</a:t>
            </a:r>
            <a:r>
              <a:rPr lang="en-IN" sz="1600" dirty="0">
                <a:latin typeface="Lucida Sans Unicode" panose="020B0602030504020204" pitchFamily="34" charset="0"/>
                <a:cs typeface="Lucida Sans Unicode" panose="020B0602030504020204" pitchFamily="34" charset="0"/>
              </a:rPr>
              <a:t> </a:t>
            </a:r>
            <a:r>
              <a:rPr lang="en-IN" sz="1600" dirty="0" err="1">
                <a:latin typeface="Lucida Sans Unicode" panose="020B0602030504020204" pitchFamily="34" charset="0"/>
                <a:cs typeface="Lucida Sans Unicode" panose="020B0602030504020204" pitchFamily="34" charset="0"/>
              </a:rPr>
              <a:t>Bengio</a:t>
            </a:r>
            <a:r>
              <a:rPr lang="en-IN" sz="1600" dirty="0">
                <a:latin typeface="Lucida Sans Unicode" panose="020B0602030504020204" pitchFamily="34" charset="0"/>
                <a:cs typeface="Lucida Sans Unicode" panose="020B0602030504020204" pitchFamily="34" charset="0"/>
              </a:rPr>
              <a:t>.“On the difficulty of training recurrent neural networks.” International Conference on Machine Learning. 2013.</a:t>
            </a:r>
          </a:p>
          <a:p>
            <a:pPr algn="just"/>
            <a:endParaRPr lang="en-IN" sz="1600" dirty="0">
              <a:latin typeface="Lucida Sans Unicode" panose="020B0602030504020204" pitchFamily="34" charset="0"/>
              <a:cs typeface="Lucida Sans Unicode" panose="020B0602030504020204" pitchFamily="34" charset="0"/>
            </a:endParaRPr>
          </a:p>
          <a:p>
            <a:pPr algn="just"/>
            <a:r>
              <a:rPr lang="en-IN" sz="1600" dirty="0">
                <a:latin typeface="Lucida Sans Unicode" panose="020B0602030504020204" pitchFamily="34" charset="0"/>
                <a:cs typeface="Lucida Sans Unicode" panose="020B0602030504020204" pitchFamily="34" charset="0"/>
              </a:rPr>
              <a:t>5. Zhu, </a:t>
            </a:r>
            <a:r>
              <a:rPr lang="en-IN" sz="1600" dirty="0" err="1">
                <a:latin typeface="Lucida Sans Unicode" panose="020B0602030504020204" pitchFamily="34" charset="0"/>
                <a:cs typeface="Lucida Sans Unicode" panose="020B0602030504020204" pitchFamily="34" charset="0"/>
              </a:rPr>
              <a:t>Maohua</a:t>
            </a:r>
            <a:r>
              <a:rPr lang="en-IN" sz="1600" dirty="0">
                <a:latin typeface="Lucida Sans Unicode" panose="020B0602030504020204" pitchFamily="34" charset="0"/>
                <a:cs typeface="Lucida Sans Unicode" panose="020B0602030504020204" pitchFamily="34" charset="0"/>
              </a:rPr>
              <a:t>, et al. “Training Long Short-Term Memory With </a:t>
            </a:r>
            <a:r>
              <a:rPr lang="en-IN" sz="1600" dirty="0" err="1">
                <a:latin typeface="Lucida Sans Unicode" panose="020B0602030504020204" pitchFamily="34" charset="0"/>
                <a:cs typeface="Lucida Sans Unicode" panose="020B0602030504020204" pitchFamily="34" charset="0"/>
              </a:rPr>
              <a:t>Sparsified</a:t>
            </a:r>
            <a:r>
              <a:rPr lang="en-IN" sz="1600" dirty="0">
                <a:latin typeface="Lucida Sans Unicode" panose="020B0602030504020204" pitchFamily="34" charset="0"/>
                <a:cs typeface="Lucida Sans Unicode" panose="020B0602030504020204" pitchFamily="34" charset="0"/>
              </a:rPr>
              <a:t> Stochastic Gradient Descent.” (2016).</a:t>
            </a:r>
          </a:p>
          <a:p>
            <a:pPr algn="just"/>
            <a:endParaRPr lang="en-IN" sz="1600" dirty="0">
              <a:latin typeface="Lucida Sans Unicode" panose="020B0602030504020204" pitchFamily="34" charset="0"/>
              <a:cs typeface="Lucida Sans Unicode" panose="020B0602030504020204" pitchFamily="34" charset="0"/>
            </a:endParaRPr>
          </a:p>
          <a:p>
            <a:pPr algn="just"/>
            <a:r>
              <a:rPr lang="en-IN" sz="1600" dirty="0">
                <a:latin typeface="Lucida Sans Unicode" panose="020B0602030504020204" pitchFamily="34" charset="0"/>
                <a:cs typeface="Lucida Sans Unicode" panose="020B0602030504020204" pitchFamily="34" charset="0"/>
              </a:rPr>
              <a:t>6. </a:t>
            </a:r>
            <a:r>
              <a:rPr lang="en-US" sz="1600" dirty="0" err="1">
                <a:latin typeface="Lucida Sans Unicode" panose="020B0602030504020204" pitchFamily="34" charset="0"/>
                <a:cs typeface="Lucida Sans Unicode" panose="020B0602030504020204" pitchFamily="34" charset="0"/>
              </a:rPr>
              <a:t>Wanjawa</a:t>
            </a:r>
            <a:r>
              <a:rPr lang="en-US" sz="1600" dirty="0">
                <a:latin typeface="Lucida Sans Unicode" panose="020B0602030504020204" pitchFamily="34" charset="0"/>
                <a:cs typeface="Lucida Sans Unicode" panose="020B0602030504020204" pitchFamily="34" charset="0"/>
              </a:rPr>
              <a:t> and L. </a:t>
            </a:r>
            <a:r>
              <a:rPr lang="en-US" sz="1600" dirty="0" err="1">
                <a:latin typeface="Lucida Sans Unicode" panose="020B0602030504020204" pitchFamily="34" charset="0"/>
                <a:cs typeface="Lucida Sans Unicode" panose="020B0602030504020204" pitchFamily="34" charset="0"/>
              </a:rPr>
              <a:t>Muchemi</a:t>
            </a:r>
            <a:r>
              <a:rPr lang="en-US" sz="1600" dirty="0">
                <a:latin typeface="Lucida Sans Unicode" panose="020B0602030504020204" pitchFamily="34" charset="0"/>
                <a:cs typeface="Lucida Sans Unicode" panose="020B0602030504020204" pitchFamily="34" charset="0"/>
              </a:rPr>
              <a:t> demonstrated the potential in predicting stock prices using ANN, as shown in the research paper “ANN Model to Predict Stock Prices at Stock Exchange Markets”.</a:t>
            </a:r>
            <a:endParaRPr lang="en-IN" sz="1600"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474849601"/>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96" row="1">
    <wetp:webextensionref xmlns:r="http://schemas.openxmlformats.org/officeDocument/2006/relationships" r:id="rId1"/>
  </wetp:taskpane>
  <wetp:taskpane dockstate="right" visibility="0" width="765"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D20BC85-35A2-4BF2-9B36-14D71B817D05}">
  <we:reference id="wa104380510" version="1.0.0.3" store="en-US" storeType="OMEX"/>
  <we:alternateReferences>
    <we:reference id="wa104380510" version="1.0.0.3" store="WA10438051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1F79648-6566-4E59-86F8-C5E8A936B6E3}">
  <we:reference id="wa104381335" version="1.0.0.1" store="en-US" storeType="OMEX"/>
  <we:alternateReferences>
    <we:reference id="wa104381335" version="1.0.0.1" store="WA10438133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TM03457515[[fn=View]]</Template>
  <TotalTime>568</TotalTime>
  <Words>1064</Words>
  <Application>Microsoft Office PowerPoint</Application>
  <PresentationFormat>Widescreen</PresentationFormat>
  <Paragraphs>87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Century Schoolbook</vt:lpstr>
      <vt:lpstr>Lucida Sans Unicode</vt:lpstr>
      <vt:lpstr>Wingdings</vt:lpstr>
      <vt:lpstr>Wingdings 2</vt:lpstr>
      <vt:lpstr>View</vt:lpstr>
      <vt:lpstr>KLE Dr. M S Sheshgiri College of Engineering and Technology Belagavi.   MACHINE LEARNING BASED STOCK PRICE PREDICTION</vt:lpstr>
      <vt:lpstr>INTRODUCTION</vt:lpstr>
      <vt:lpstr>PowerPoint Presentation</vt:lpstr>
      <vt:lpstr>LITERATURE SURVEY</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Manojkumar Bagewadi</dc:creator>
  <cp:lastModifiedBy>Manojkumar Bagewadi</cp:lastModifiedBy>
  <cp:revision>56</cp:revision>
  <dcterms:created xsi:type="dcterms:W3CDTF">2020-12-26T14:02:51Z</dcterms:created>
  <dcterms:modified xsi:type="dcterms:W3CDTF">2020-12-28T09:18:35Z</dcterms:modified>
</cp:coreProperties>
</file>